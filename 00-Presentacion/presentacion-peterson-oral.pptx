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Métricas proporcionadas por el usuario a partir de corridas de SPIN.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996B61-2A4B-460C-A5C9-D2C18554D3AE}"/>
              </a:ext>
            </a:extLst>
          </p:cNvPr>
          <p:cNvSpPr>
            <a:spLocks noGrp="1"/>
          </p:cNvSpPr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5F6383-97BB-4E36-94E5-0ABB8ACBC6E1}"/>
              </a:ext>
            </a:extLst>
          </p:cNvPr>
          <p:cNvSpPr>
            <a:spLocks noGrp="1"/>
          </p:cNvSpPr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E6BE68-895E-44F4-9C43-07A47A08175E}"/>
              </a:ext>
            </a:extLst>
          </p:cNvPr>
          <p:cNvSpPr>
            <a:spLocks noGrp="1"/>
          </p:cNvSpPr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9956620-CBD6-4E74-A724-BD09881498B5}"/>
              </a:ext>
            </a:extLst>
          </p:cNvPr>
          <p:cNvSpPr>
            <a:spLocks noGrp="1"/>
          </p:cNvSpPr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s-ES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883310"/>
            <a:ext cx="427939" cy="427939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609BA79-4DA2-456C-AEE8-D9CD556A41F4}"/>
              </a:ext>
            </a:extLst>
          </p:cNvPr>
          <p:cNvSpPr>
            <a:spLocks noGrp="1"/>
          </p:cNvSpPr>
          <p:nvPr/>
        </p:nvSpPr>
        <p:spPr>
          <a:xfrm>
            <a:off x="822960" y="2042769"/>
            <a:ext cx="1051560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s-ES" sz="4000" dirty="0">
                <a:solidFill>
                  <a:srgbClr val="4F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Algoritmo de Peterson Generalizado a </a:t>
            </a:r>
          </a:p>
          <a:p>
            <a:r>
              <a:rPr lang="es-ES" sz="4000" dirty="0">
                <a:solidFill>
                  <a:srgbClr val="4FB8A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</a:rPr>
              <a:t>N Procesos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FCFE32A-9E2F-45C2-AB32-9AE6EF262131}"/>
              </a:ext>
            </a:extLst>
          </p:cNvPr>
          <p:cNvSpPr>
            <a:spLocks noGrp="1"/>
          </p:cNvSpPr>
          <p:nvPr/>
        </p:nvSpPr>
        <p:spPr>
          <a:xfrm>
            <a:off x="822960" y="3314700"/>
            <a:ext cx="105156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s-ES" sz="2000" b="1" dirty="0">
                <a:solidFill>
                  <a:srgbClr val="FFFFFF"/>
                </a:solidFill>
                <a:ea typeface="Cambria"/>
                <a:cs typeface="Cambria"/>
              </a:rPr>
              <a:t>EXCLUSIÓN MUTUA EN SISTEMAS CONCURRENTES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E28C3E0-1B07-4C26-B3EB-D1E064109789}"/>
              </a:ext>
            </a:extLst>
          </p:cNvPr>
          <p:cNvSpPr>
            <a:spLocks noGrp="1"/>
          </p:cNvSpPr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600" i="1" dirty="0" err="1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Verificación</a:t>
            </a:r>
            <a:r>
              <a:rPr sz="1600" i="1" dirty="0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 formal con </a:t>
            </a:r>
            <a:r>
              <a:rPr sz="1600" i="1" dirty="0" err="1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Promela</a:t>
            </a:r>
            <a:r>
              <a:rPr sz="1600" i="1" dirty="0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 / SPIN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9F873B-A21A-4692-8309-B76D751FB280}"/>
              </a:ext>
            </a:extLst>
          </p:cNvPr>
          <p:cNvSpPr>
            <a:spLocks noGrp="1"/>
          </p:cNvSpPr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300" b="1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Tomás Fugassa</a:t>
            </a:r>
          </a:p>
        </p:txBody>
      </p:sp>
    </p:spTree>
    <p:extLst>
      <p:ext uri="{BB962C8B-B14F-4D97-AF65-F5344CB8AC3E}">
        <p14:creationId xmlns:p14="http://schemas.microsoft.com/office/powerpoint/2010/main" val="1286644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C319C3-BF00-4207-BDF1-2903230A6FDB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¿Qué se busca garantizar?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696D7D-9D2D-47CE-81F0-8A4B80141587}"/>
              </a:ext>
            </a:extLst>
          </p:cNvPr>
          <p:cNvSpPr>
            <a:spLocks noGrp="1"/>
          </p:cNvSpPr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Un algoritmo de exclusión mutua correcto debe cumplir cuatro propiedades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E1D55E-05E4-48F5-802F-7BCBD7D7B0A0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788E2D7-D2AE-477D-A415-30173CD796CC}"/>
              </a:ext>
            </a:extLst>
          </p:cNvPr>
          <p:cNvSpPr>
            <a:spLocks noGrp="1"/>
          </p:cNvSpPr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E9F1F4"/>
          </a:solidFill>
        </p:spPr>
        <p:txBody>
          <a:bodyPr/>
          <a:lstStyle/>
          <a:p>
            <a:endParaRPr lang="es-ES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30552"/>
            <a:ext cx="356616" cy="35661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65A4664-6E72-4895-8943-1E0D5BD80400}"/>
              </a:ext>
            </a:extLst>
          </p:cNvPr>
          <p:cNvSpPr>
            <a:spLocks noGrp="1"/>
          </p:cNvSpPr>
          <p:nvPr/>
        </p:nvSpPr>
        <p:spPr>
          <a:xfrm>
            <a:off x="4114800" y="1947672"/>
            <a:ext cx="1280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SAFETY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F95D711-00CD-400E-8302-E7A0E2D5B0CA}"/>
              </a:ext>
            </a:extLst>
          </p:cNvPr>
          <p:cNvSpPr>
            <a:spLocks noGrp="1"/>
          </p:cNvSpPr>
          <p:nvPr/>
        </p:nvSpPr>
        <p:spPr>
          <a:xfrm>
            <a:off x="822960" y="274320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Exclusión mutua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858868F-11BA-45ED-BF25-1037F4F0F185}"/>
              </a:ext>
            </a:extLst>
          </p:cNvPr>
          <p:cNvSpPr>
            <a:spLocks noGrp="1"/>
          </p:cNvSpPr>
          <p:nvPr/>
        </p:nvSpPr>
        <p:spPr>
          <a:xfrm>
            <a:off x="822960" y="310896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25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Nunca dos procesos están en la sección crítica al mismo tiempo.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9ACEE35-C7A1-4F8C-8730-B12011BED5BF}"/>
              </a:ext>
            </a:extLst>
          </p:cNvPr>
          <p:cNvSpPr>
            <a:spLocks noGrp="1"/>
          </p:cNvSpPr>
          <p:nvPr/>
        </p:nvSpPr>
        <p:spPr>
          <a:xfrm>
            <a:off x="5989320" y="1691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98F7D74-1A1A-4E76-A1FC-096946037193}"/>
              </a:ext>
            </a:extLst>
          </p:cNvPr>
          <p:cNvSpPr>
            <a:spLocks noGrp="1"/>
          </p:cNvSpPr>
          <p:nvPr/>
        </p:nvSpPr>
        <p:spPr>
          <a:xfrm>
            <a:off x="6263640" y="1965960"/>
            <a:ext cx="685800" cy="685800"/>
          </a:xfrm>
          <a:prstGeom prst="ellipse">
            <a:avLst/>
          </a:prstGeom>
          <a:solidFill>
            <a:srgbClr val="E9F1F4"/>
          </a:solidFill>
        </p:spPr>
        <p:txBody>
          <a:bodyPr/>
          <a:lstStyle/>
          <a:p>
            <a:endParaRPr lang="es-ES"/>
          </a:p>
        </p:txBody>
      </p:sp>
      <p:pic>
        <p:nvPicPr>
          <p:cNvPr id="4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130552"/>
            <a:ext cx="356616" cy="356616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441BD488-C504-470B-A86B-0A33EC78956C}"/>
              </a:ext>
            </a:extLst>
          </p:cNvPr>
          <p:cNvSpPr>
            <a:spLocks noGrp="1"/>
          </p:cNvSpPr>
          <p:nvPr/>
        </p:nvSpPr>
        <p:spPr>
          <a:xfrm>
            <a:off x="9555480" y="1947672"/>
            <a:ext cx="1280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LIVENESS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BF4CFBC-4263-408C-953B-AE503264B6D4}"/>
              </a:ext>
            </a:extLst>
          </p:cNvPr>
          <p:cNvSpPr>
            <a:spLocks noGrp="1"/>
          </p:cNvSpPr>
          <p:nvPr/>
        </p:nvSpPr>
        <p:spPr>
          <a:xfrm>
            <a:off x="6263640" y="274320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No deadlock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BB8F075-E40E-472B-82FA-CB82A744C058}"/>
              </a:ext>
            </a:extLst>
          </p:cNvPr>
          <p:cNvSpPr>
            <a:spLocks noGrp="1"/>
          </p:cNvSpPr>
          <p:nvPr/>
        </p:nvSpPr>
        <p:spPr>
          <a:xfrm>
            <a:off x="6263640" y="310896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25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El sistema nunca queda completamente trabado: siempre alguien puede avanzar.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06D53CB-EC29-411F-8808-FC117411F37E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DF3C2BD-B21A-40F9-B410-FE3E7E1C5DA1}"/>
              </a:ext>
            </a:extLst>
          </p:cNvPr>
          <p:cNvSpPr>
            <a:spLocks noGrp="1"/>
          </p:cNvSpPr>
          <p:nvPr/>
        </p:nvSpPr>
        <p:spPr>
          <a:xfrm>
            <a:off x="822960" y="4389120"/>
            <a:ext cx="685800" cy="685800"/>
          </a:xfrm>
          <a:prstGeom prst="ellipse">
            <a:avLst/>
          </a:prstGeom>
          <a:solidFill>
            <a:srgbClr val="E9F1F4"/>
          </a:solidFill>
        </p:spPr>
        <p:txBody>
          <a:bodyPr/>
          <a:lstStyle/>
          <a:p>
            <a:endParaRPr lang="es-ES"/>
          </a:p>
        </p:txBody>
      </p:sp>
      <p:pic>
        <p:nvPicPr>
          <p:cNvPr id="5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553712"/>
            <a:ext cx="356616" cy="356616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A3684F00-08F9-4D5C-9F75-6C04D832EF1B}"/>
              </a:ext>
            </a:extLst>
          </p:cNvPr>
          <p:cNvSpPr>
            <a:spLocks noGrp="1"/>
          </p:cNvSpPr>
          <p:nvPr/>
        </p:nvSpPr>
        <p:spPr>
          <a:xfrm>
            <a:off x="4114800" y="4370832"/>
            <a:ext cx="1280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LIVENESS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F17DE86A-64FE-44BB-9B7F-54C3137BDC14}"/>
              </a:ext>
            </a:extLst>
          </p:cNvPr>
          <p:cNvSpPr>
            <a:spLocks noGrp="1"/>
          </p:cNvSpPr>
          <p:nvPr/>
        </p:nvSpPr>
        <p:spPr>
          <a:xfrm>
            <a:off x="822960" y="516636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No starvation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56C7F7F4-7804-40A7-997C-3F61E2D7FD11}"/>
              </a:ext>
            </a:extLst>
          </p:cNvPr>
          <p:cNvSpPr>
            <a:spLocks noGrp="1"/>
          </p:cNvSpPr>
          <p:nvPr/>
        </p:nvSpPr>
        <p:spPr>
          <a:xfrm>
            <a:off x="822960" y="553212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Todo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proceso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que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quiere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entrar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eventualmente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entra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-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no solo el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sistema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su</a:t>
            </a:r>
            <a:r>
              <a:rPr sz="12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conjunto.</a:t>
            </a: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93AB47B0-9335-4426-84C5-02756D81F061}"/>
              </a:ext>
            </a:extLst>
          </p:cNvPr>
          <p:cNvSpPr>
            <a:spLocks noGrp="1"/>
          </p:cNvSpPr>
          <p:nvPr/>
        </p:nvSpPr>
        <p:spPr>
          <a:xfrm>
            <a:off x="5989320" y="41148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DE7D5F0C-5881-44A7-9E0C-C02506E6BA67}"/>
              </a:ext>
            </a:extLst>
          </p:cNvPr>
          <p:cNvSpPr>
            <a:spLocks noGrp="1"/>
          </p:cNvSpPr>
          <p:nvPr/>
        </p:nvSpPr>
        <p:spPr>
          <a:xfrm>
            <a:off x="6263640" y="4389120"/>
            <a:ext cx="685800" cy="685800"/>
          </a:xfrm>
          <a:prstGeom prst="ellipse">
            <a:avLst/>
          </a:prstGeom>
          <a:solidFill>
            <a:srgbClr val="E9F1F4"/>
          </a:solidFill>
        </p:spPr>
        <p:txBody>
          <a:bodyPr/>
          <a:lstStyle/>
          <a:p>
            <a:endParaRPr lang="es-ES"/>
          </a:p>
        </p:txBody>
      </p:sp>
      <p:pic>
        <p:nvPicPr>
          <p:cNvPr id="56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4553712"/>
            <a:ext cx="356616" cy="356616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68A345AF-2A2D-40A2-AD20-09C6A3F2DB2A}"/>
              </a:ext>
            </a:extLst>
          </p:cNvPr>
          <p:cNvSpPr>
            <a:spLocks noGrp="1"/>
          </p:cNvSpPr>
          <p:nvPr/>
        </p:nvSpPr>
        <p:spPr>
          <a:xfrm>
            <a:off x="9555480" y="4370832"/>
            <a:ext cx="1280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9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LIVENESS</a:t>
            </a: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889FC139-A57A-4074-909E-DB5D915B6C03}"/>
              </a:ext>
            </a:extLst>
          </p:cNvPr>
          <p:cNvSpPr>
            <a:spLocks noGrp="1"/>
          </p:cNvSpPr>
          <p:nvPr/>
        </p:nvSpPr>
        <p:spPr>
          <a:xfrm>
            <a:off x="6263640" y="5166360"/>
            <a:ext cx="4572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Progreso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0AFF1A0-C4A6-4EF9-B1A7-3BDEFCBD8C79}"/>
              </a:ext>
            </a:extLst>
          </p:cNvPr>
          <p:cNvSpPr>
            <a:spLocks noGrp="1"/>
          </p:cNvSpPr>
          <p:nvPr/>
        </p:nvSpPr>
        <p:spPr>
          <a:xfrm>
            <a:off x="6263640" y="5532120"/>
            <a:ext cx="4572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25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El sistema avanza: la sección crítica se ocupa infinitas veces a lo largo del tiempo.</a:t>
            </a:r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374551AD-F018-4B55-8317-BE6F5A191923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2 · El objetivo</a:t>
            </a: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72BE5A3-7404-45E4-B464-B32B7E4895D2}"/>
              </a:ext>
            </a:extLst>
          </p:cNvPr>
          <p:cNvSpPr>
            <a:spLocks noGrp="1"/>
          </p:cNvSpPr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Exclusión mutua — Peterson / Filter Algorithm</a:t>
            </a:r>
          </a:p>
        </p:txBody>
      </p:sp>
    </p:spTree>
    <p:extLst>
      <p:ext uri="{BB962C8B-B14F-4D97-AF65-F5344CB8AC3E}">
        <p14:creationId xmlns:p14="http://schemas.microsoft.com/office/powerpoint/2010/main" val="1327495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CE3638-796A-4DAB-9FC9-381AA79E6A56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Cuatro intentos, cuatro lecciones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50B377-B724-45E7-95F3-7456BD117E1E}"/>
              </a:ext>
            </a:extLst>
          </p:cNvPr>
          <p:cNvSpPr>
            <a:spLocks noGrp="1"/>
          </p:cNvSpPr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Cada </a:t>
            </a:r>
            <a:r>
              <a:rPr sz="14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intento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resuelve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el </a:t>
            </a:r>
            <a:r>
              <a:rPr sz="14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del anterior e introduce uno nuevo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5453A9-B701-48C5-BB16-B12557CA1A64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BDFD242-6CB3-436E-B0E2-7CC0124C9D4D}"/>
              </a:ext>
            </a:extLst>
          </p:cNvPr>
          <p:cNvSpPr>
            <a:spLocks noGrp="1"/>
          </p:cNvSpPr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6798A2-52F1-4FA2-9CA7-A2A1786971E3}"/>
              </a:ext>
            </a:extLst>
          </p:cNvPr>
          <p:cNvSpPr>
            <a:spLocks noGrp="1"/>
          </p:cNvSpPr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343B3F-028A-4B7B-92A0-ED2ED61042F1}"/>
              </a:ext>
            </a:extLst>
          </p:cNvPr>
          <p:cNvSpPr>
            <a:spLocks noGrp="1"/>
          </p:cNvSpPr>
          <p:nvPr/>
        </p:nvSpPr>
        <p:spPr>
          <a:xfrm>
            <a:off x="1417320" y="1965960"/>
            <a:ext cx="4023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Intento 1 — Alternancia estricta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9BC5B2B-FFB0-44D5-ADB5-31EFFF889DFF}"/>
              </a:ext>
            </a:extLst>
          </p:cNvPr>
          <p:cNvSpPr>
            <a:spLocks noGrp="1"/>
          </p:cNvSpPr>
          <p:nvPr/>
        </p:nvSpPr>
        <p:spPr>
          <a:xfrm>
            <a:off x="822960" y="256032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2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Una variable turn indica de quién es el turno.</a:t>
            </a:r>
          </a:p>
        </p:txBody>
      </p:sp>
      <p:pic>
        <p:nvPicPr>
          <p:cNvPr id="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73552"/>
            <a:ext cx="256032" cy="256032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8AB994AF-5903-4FB8-9BE2-578AEA89C60F}"/>
              </a:ext>
            </a:extLst>
          </p:cNvPr>
          <p:cNvSpPr>
            <a:spLocks noGrp="1"/>
          </p:cNvSpPr>
          <p:nvPr/>
        </p:nvSpPr>
        <p:spPr>
          <a:xfrm>
            <a:off x="1115568" y="3246120"/>
            <a:ext cx="19202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✓ Exclusión mutua</a:t>
            </a:r>
          </a:p>
        </p:txBody>
      </p:sp>
      <p:pic>
        <p:nvPicPr>
          <p:cNvPr id="6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273552"/>
            <a:ext cx="256032" cy="256032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ED697B5F-63F0-4CCD-B87F-7EB758D2863E}"/>
              </a:ext>
            </a:extLst>
          </p:cNvPr>
          <p:cNvSpPr>
            <a:spLocks noGrp="1"/>
          </p:cNvSpPr>
          <p:nvPr/>
        </p:nvSpPr>
        <p:spPr>
          <a:xfrm>
            <a:off x="3447288" y="3246120"/>
            <a:ext cx="19202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B23A34"/>
                </a:solidFill>
                <a:latin typeface="Calibri"/>
                <a:ea typeface="Calibri"/>
                <a:cs typeface="Calibri"/>
              </a:rPr>
              <a:t>✕ Progreso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3B55B5DE-A799-42F6-A658-2113D4B3B65D}"/>
              </a:ext>
            </a:extLst>
          </p:cNvPr>
          <p:cNvSpPr>
            <a:spLocks noGrp="1"/>
          </p:cNvSpPr>
          <p:nvPr/>
        </p:nvSpPr>
        <p:spPr>
          <a:xfrm>
            <a:off x="5989320" y="169164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52D62C7-4B61-4A13-9AE1-D041570384A7}"/>
              </a:ext>
            </a:extLst>
          </p:cNvPr>
          <p:cNvSpPr>
            <a:spLocks noGrp="1"/>
          </p:cNvSpPr>
          <p:nvPr/>
        </p:nvSpPr>
        <p:spPr>
          <a:xfrm>
            <a:off x="6245352" y="1947672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s-E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C13755F-2364-49BE-8251-A9AC5C900F0E}"/>
              </a:ext>
            </a:extLst>
          </p:cNvPr>
          <p:cNvSpPr>
            <a:spLocks noGrp="1"/>
          </p:cNvSpPr>
          <p:nvPr/>
        </p:nvSpPr>
        <p:spPr>
          <a:xfrm>
            <a:off x="6245352" y="194767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D0639E1-93D1-4F5D-880B-F3D2832B4F3F}"/>
              </a:ext>
            </a:extLst>
          </p:cNvPr>
          <p:cNvSpPr>
            <a:spLocks noGrp="1"/>
          </p:cNvSpPr>
          <p:nvPr/>
        </p:nvSpPr>
        <p:spPr>
          <a:xfrm>
            <a:off x="6858000" y="1965960"/>
            <a:ext cx="4023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Intento 2 — Consultar antes de anunciar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D8CC811-DE69-4AF2-A6D1-94088ED575DB}"/>
              </a:ext>
            </a:extLst>
          </p:cNvPr>
          <p:cNvSpPr>
            <a:spLocks noGrp="1"/>
          </p:cNvSpPr>
          <p:nvPr/>
        </p:nvSpPr>
        <p:spPr>
          <a:xfrm>
            <a:off x="6263640" y="256032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2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Miro si el otro quiere entrar antes de anunciarme.</a:t>
            </a:r>
          </a:p>
        </p:txBody>
      </p:sp>
      <p:pic>
        <p:nvPicPr>
          <p:cNvPr id="71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273552"/>
            <a:ext cx="256032" cy="256032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6E1E03C3-44EC-498C-BD9B-D0AD6FCFDEC6}"/>
              </a:ext>
            </a:extLst>
          </p:cNvPr>
          <p:cNvSpPr>
            <a:spLocks noGrp="1"/>
          </p:cNvSpPr>
          <p:nvPr/>
        </p:nvSpPr>
        <p:spPr>
          <a:xfrm>
            <a:off x="6556248" y="3246120"/>
            <a:ext cx="19202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B23A34"/>
                </a:solidFill>
                <a:latin typeface="Calibri"/>
                <a:ea typeface="Calibri"/>
                <a:cs typeface="Calibri"/>
              </a:rPr>
              <a:t>✕ Exclusión mutua</a:t>
            </a: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3D0B2CF5-12FF-41C1-9830-A09C20FC41D7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3F7236CE-31F1-491B-AC3B-DAA42D833851}"/>
              </a:ext>
            </a:extLst>
          </p:cNvPr>
          <p:cNvSpPr>
            <a:spLocks noGrp="1"/>
          </p:cNvSpPr>
          <p:nvPr/>
        </p:nvSpPr>
        <p:spPr>
          <a:xfrm>
            <a:off x="804672" y="4370832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s-E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E8305DB5-C3C4-4E79-9361-603A5CD45AC8}"/>
              </a:ext>
            </a:extLst>
          </p:cNvPr>
          <p:cNvSpPr>
            <a:spLocks noGrp="1"/>
          </p:cNvSpPr>
          <p:nvPr/>
        </p:nvSpPr>
        <p:spPr>
          <a:xfrm>
            <a:off x="804672" y="437083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B90697F7-D899-4860-A342-51A43C4FE585}"/>
              </a:ext>
            </a:extLst>
          </p:cNvPr>
          <p:cNvSpPr>
            <a:spLocks noGrp="1"/>
          </p:cNvSpPr>
          <p:nvPr/>
        </p:nvSpPr>
        <p:spPr>
          <a:xfrm>
            <a:off x="1417320" y="4389120"/>
            <a:ext cx="4023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Intento 3 — Anunciar antes de consultar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61A0034-6BD6-4034-93E8-24B5CE169342}"/>
              </a:ext>
            </a:extLst>
          </p:cNvPr>
          <p:cNvSpPr>
            <a:spLocks noGrp="1"/>
          </p:cNvSpPr>
          <p:nvPr/>
        </p:nvSpPr>
        <p:spPr>
          <a:xfrm>
            <a:off x="822960" y="498348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2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Anuncio mi intención y luego consulto al otro.</a:t>
            </a:r>
          </a:p>
        </p:txBody>
      </p:sp>
      <p:pic>
        <p:nvPicPr>
          <p:cNvPr id="78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56032" cy="256032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E48748F9-CFA2-45C1-9AA6-74F77A379757}"/>
              </a:ext>
            </a:extLst>
          </p:cNvPr>
          <p:cNvSpPr>
            <a:spLocks noGrp="1"/>
          </p:cNvSpPr>
          <p:nvPr/>
        </p:nvSpPr>
        <p:spPr>
          <a:xfrm>
            <a:off x="1115568" y="5669280"/>
            <a:ext cx="19202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✓ Exclusión mutua</a:t>
            </a:r>
          </a:p>
        </p:txBody>
      </p:sp>
      <p:pic>
        <p:nvPicPr>
          <p:cNvPr id="80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5696712"/>
            <a:ext cx="256032" cy="256032"/>
          </a:xfrm>
          <a:prstGeom prst="rect">
            <a:avLst/>
          </a:prstGeom>
        </p:spPr>
      </p:pic>
      <p:sp>
        <p:nvSpPr>
          <p:cNvPr id="28" name="Text 21">
            <a:extLst>
              <a:ext uri="{FF2B5EF4-FFF2-40B4-BE49-F238E27FC236}">
                <a16:creationId xmlns:a16="http://schemas.microsoft.com/office/drawing/2014/main" id="{4FA747F5-8669-4211-B365-2E097DADE866}"/>
              </a:ext>
            </a:extLst>
          </p:cNvPr>
          <p:cNvSpPr>
            <a:spLocks noGrp="1"/>
          </p:cNvSpPr>
          <p:nvPr/>
        </p:nvSpPr>
        <p:spPr>
          <a:xfrm>
            <a:off x="3447288" y="5669280"/>
            <a:ext cx="19202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B23A34"/>
                </a:solidFill>
                <a:latin typeface="Calibri"/>
                <a:ea typeface="Calibri"/>
                <a:cs typeface="Calibri"/>
              </a:rPr>
              <a:t>✕ Sin deadlock</a:t>
            </a: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91815660-49FB-4A7B-82C2-80629120EAB1}"/>
              </a:ext>
            </a:extLst>
          </p:cNvPr>
          <p:cNvSpPr>
            <a:spLocks noGrp="1"/>
          </p:cNvSpPr>
          <p:nvPr/>
        </p:nvSpPr>
        <p:spPr>
          <a:xfrm>
            <a:off x="5989320" y="41148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9BDCC5FC-68E0-442F-8299-6E4E85BB859A}"/>
              </a:ext>
            </a:extLst>
          </p:cNvPr>
          <p:cNvSpPr>
            <a:spLocks noGrp="1"/>
          </p:cNvSpPr>
          <p:nvPr/>
        </p:nvSpPr>
        <p:spPr>
          <a:xfrm>
            <a:off x="6245352" y="4370832"/>
            <a:ext cx="457200" cy="45720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s-ES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C630E2AD-0F43-407F-B52F-ABB3DA560C8B}"/>
              </a:ext>
            </a:extLst>
          </p:cNvPr>
          <p:cNvSpPr>
            <a:spLocks noGrp="1"/>
          </p:cNvSpPr>
          <p:nvPr/>
        </p:nvSpPr>
        <p:spPr>
          <a:xfrm>
            <a:off x="6245352" y="4370832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E7025C8-2298-4108-8C45-3A1D9ED1CB30}"/>
              </a:ext>
            </a:extLst>
          </p:cNvPr>
          <p:cNvSpPr>
            <a:spLocks noGrp="1"/>
          </p:cNvSpPr>
          <p:nvPr/>
        </p:nvSpPr>
        <p:spPr>
          <a:xfrm>
            <a:off x="6858000" y="4389120"/>
            <a:ext cx="402336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Intento 4 — Cortesía</a:t>
            </a: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5685C6C8-8A15-4C8A-9069-64E52BD68E4C}"/>
              </a:ext>
            </a:extLst>
          </p:cNvPr>
          <p:cNvSpPr>
            <a:spLocks noGrp="1"/>
          </p:cNvSpPr>
          <p:nvPr/>
        </p:nvSpPr>
        <p:spPr>
          <a:xfrm>
            <a:off x="6263640" y="4983480"/>
            <a:ext cx="45720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2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Si el otro también quiere entrar, retiro mi intención y reintento.</a:t>
            </a:r>
          </a:p>
        </p:txBody>
      </p:sp>
      <p:pic>
        <p:nvPicPr>
          <p:cNvPr id="87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5696712"/>
            <a:ext cx="256032" cy="256032"/>
          </a:xfrm>
          <a:prstGeom prst="rect">
            <a:avLst/>
          </a:prstGeom>
        </p:spPr>
      </p:pic>
      <p:sp>
        <p:nvSpPr>
          <p:cNvPr id="35" name="Text 27">
            <a:extLst>
              <a:ext uri="{FF2B5EF4-FFF2-40B4-BE49-F238E27FC236}">
                <a16:creationId xmlns:a16="http://schemas.microsoft.com/office/drawing/2014/main" id="{E8B7F9C1-19CD-4CD6-AB62-6F72AB5F790B}"/>
              </a:ext>
            </a:extLst>
          </p:cNvPr>
          <p:cNvSpPr>
            <a:spLocks noGrp="1"/>
          </p:cNvSpPr>
          <p:nvPr/>
        </p:nvSpPr>
        <p:spPr>
          <a:xfrm>
            <a:off x="6556248" y="5669280"/>
            <a:ext cx="19202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2E7D5B"/>
                </a:solidFill>
                <a:latin typeface="Calibri"/>
                <a:ea typeface="Calibri"/>
                <a:cs typeface="Calibri"/>
              </a:rPr>
              <a:t>✓ Sin deadlock</a:t>
            </a:r>
          </a:p>
        </p:txBody>
      </p:sp>
      <p:pic>
        <p:nvPicPr>
          <p:cNvPr id="89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5696712"/>
            <a:ext cx="256032" cy="256032"/>
          </a:xfrm>
          <a:prstGeom prst="rect">
            <a:avLst/>
          </a:prstGeom>
        </p:spPr>
      </p:pic>
      <p:sp>
        <p:nvSpPr>
          <p:cNvPr id="37" name="Text 28">
            <a:extLst>
              <a:ext uri="{FF2B5EF4-FFF2-40B4-BE49-F238E27FC236}">
                <a16:creationId xmlns:a16="http://schemas.microsoft.com/office/drawing/2014/main" id="{78553E5D-C916-4EAA-BEAA-D3922535C701}"/>
              </a:ext>
            </a:extLst>
          </p:cNvPr>
          <p:cNvSpPr>
            <a:spLocks noGrp="1"/>
          </p:cNvSpPr>
          <p:nvPr/>
        </p:nvSpPr>
        <p:spPr>
          <a:xfrm>
            <a:off x="8887968" y="5669280"/>
            <a:ext cx="192024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B23A34"/>
                </a:solidFill>
                <a:latin typeface="Calibri"/>
                <a:ea typeface="Calibri"/>
                <a:cs typeface="Calibri"/>
              </a:rPr>
              <a:t>✕ Sin livelock</a:t>
            </a:r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AB97659B-6FF6-46A2-9BE1-14A4481E2C84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3 · Evolución de soluciones</a:t>
            </a:r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98791CC3-5DBE-4DAF-B0BC-03640AC2C6DB}"/>
              </a:ext>
            </a:extLst>
          </p:cNvPr>
          <p:cNvSpPr>
            <a:spLocks noGrp="1"/>
          </p:cNvSpPr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Exclusión mutua — Peterson / Filter Algorithm</a:t>
            </a:r>
          </a:p>
        </p:txBody>
      </p:sp>
      <p:sp>
        <p:nvSpPr>
          <p:cNvPr id="47" name="Intento 2 - progreso">
            <a:extLst>
              <a:ext uri="{FF2B5EF4-FFF2-40B4-BE49-F238E27FC236}">
                <a16:creationId xmlns:a16="http://schemas.microsoft.com/office/drawing/2014/main" id="{82140D05-A47F-4F85-AC91-1B23B2BA2814}"/>
              </a:ext>
            </a:extLst>
          </p:cNvPr>
          <p:cNvSpPr>
            <a:spLocks noGrp="1"/>
          </p:cNvSpPr>
          <p:nvPr/>
        </p:nvSpPr>
        <p:spPr>
          <a:xfrm>
            <a:off x="8763000" y="3246120"/>
            <a:ext cx="1920240" cy="310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75" b="1">
                <a:solidFill>
                  <a:srgbClr val="16835F"/>
                </a:solidFill>
              </a:defRPr>
            </a:pPr>
            <a:r>
              <a:rPr sz="975" b="1">
                <a:solidFill>
                  <a:srgbClr val="16835F"/>
                </a:solidFill>
              </a:rPr>
              <a:t>✓ Progreso</a:t>
            </a:r>
          </a:p>
        </p:txBody>
      </p:sp>
    </p:spTree>
    <p:extLst>
      <p:ext uri="{BB962C8B-B14F-4D97-AF65-F5344CB8AC3E}">
        <p14:creationId xmlns:p14="http://schemas.microsoft.com/office/powerpoint/2010/main" val="32640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9C2FB9-554B-45E7-B551-6AB16D49CC41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0881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Peterson: una condición, cuatro garantías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DBC5DD-5A37-4A5E-A76E-67E36940C9CF}"/>
              </a:ext>
            </a:extLst>
          </p:cNvPr>
          <p:cNvSpPr>
            <a:spLocks noGrp="1"/>
          </p:cNvSpPr>
          <p:nvPr/>
        </p:nvSpPr>
        <p:spPr>
          <a:xfrm>
            <a:off x="548640" y="987552"/>
            <a:ext cx="10881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Combina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banderas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4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intención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con </a:t>
            </a:r>
            <a:r>
              <a:rPr sz="14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variable de </a:t>
            </a:r>
            <a:r>
              <a:rPr sz="14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desempate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14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5CD5D1-3391-49E8-AF6E-34E4ADE0D58A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7B3563-368A-45E1-A7DA-70C46770BBC7}"/>
              </a:ext>
            </a:extLst>
          </p:cNvPr>
          <p:cNvSpPr>
            <a:spLocks noGrp="1"/>
          </p:cNvSpPr>
          <p:nvPr/>
        </p:nvSpPr>
        <p:spPr>
          <a:xfrm>
            <a:off x="868680" y="1874520"/>
            <a:ext cx="44805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4FB8A6"/>
                </a:solidFill>
                <a:latin typeface="Calibri"/>
                <a:ea typeface="Calibri"/>
                <a:cs typeface="Calibri"/>
              </a:rPr>
              <a:t>Condición de entrada de Proceso 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63BF1A-B3BD-4D02-B8B1-A5727A882AC3}"/>
              </a:ext>
            </a:extLst>
          </p:cNvPr>
          <p:cNvSpPr>
            <a:spLocks noGrp="1"/>
          </p:cNvSpPr>
          <p:nvPr/>
        </p:nvSpPr>
        <p:spPr>
          <a:xfrm>
            <a:off x="868680" y="2240280"/>
            <a:ext cx="44805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4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!</a:t>
            </a:r>
            <a:r>
              <a:rPr sz="2400" b="1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wantTwo</a:t>
            </a:r>
            <a:r>
              <a:rPr sz="24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|| </a:t>
            </a:r>
            <a:r>
              <a:rPr lang="en-US" sz="24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last</a:t>
            </a:r>
            <a:r>
              <a:rPr sz="2400" b="1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== 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750435-6757-4831-A0F7-0A016E8F2818}"/>
              </a:ext>
            </a:extLst>
          </p:cNvPr>
          <p:cNvSpPr>
            <a:spLocks noGrp="1"/>
          </p:cNvSpPr>
          <p:nvPr/>
        </p:nvSpPr>
        <p:spPr>
          <a:xfrm>
            <a:off x="640080" y="4815840"/>
            <a:ext cx="4937760" cy="746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  <a:defRPr sz="1125" i="1">
                <a:solidFill>
                  <a:srgbClr val="516575"/>
                </a:solidFill>
              </a:defRPr>
            </a:pP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1125" i="1" dirty="0" err="1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Puedo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25" i="1" dirty="0" err="1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entrar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25" i="1" dirty="0" err="1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si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 el </a:t>
            </a:r>
            <a:r>
              <a:rPr sz="1125" i="1" dirty="0" err="1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otro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 no </a:t>
            </a:r>
            <a:r>
              <a:rPr sz="1125" i="1" dirty="0" err="1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quiere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 o </a:t>
            </a:r>
            <a:r>
              <a:rPr sz="1125" i="1" dirty="0" err="1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si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 la variable </a:t>
            </a:r>
            <a:r>
              <a:rPr lang="en-US"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last 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me </a:t>
            </a:r>
            <a:r>
              <a:rPr sz="1125" i="1" dirty="0" err="1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habilita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125" i="1" dirty="0" err="1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avanzar</a:t>
            </a:r>
            <a:r>
              <a:rPr sz="1125" i="1" dirty="0">
                <a:solidFill>
                  <a:srgbClr val="516575"/>
                </a:solidFill>
                <a:latin typeface="Calibri"/>
                <a:ea typeface="Calibri"/>
                <a:cs typeface="Calibri"/>
              </a:rPr>
              <a:t>.”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F576A5-AF3C-4480-AFD3-B1B12C84ADE0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51206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300" b="1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Una sola </a:t>
            </a:r>
            <a:r>
              <a:rPr sz="1300" b="1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línea</a:t>
            </a:r>
            <a:r>
              <a:rPr sz="1300" b="1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resuelve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lo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que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los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cuatro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intentos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anteriores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les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costó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varios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pasos — y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aun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así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seguían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fallando</a:t>
            </a:r>
            <a:r>
              <a:rPr lang="en-US"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alguna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propiedad</a:t>
            </a:r>
            <a:r>
              <a:rPr sz="13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A0ED928-21DF-4D1C-A0A4-2799F7EC1446}"/>
              </a:ext>
            </a:extLst>
          </p:cNvPr>
          <p:cNvSpPr>
            <a:spLocks noGrp="1"/>
          </p:cNvSpPr>
          <p:nvPr/>
        </p:nvSpPr>
        <p:spPr>
          <a:xfrm>
            <a:off x="6035040" y="1604772"/>
            <a:ext cx="5577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 b="1" dirty="0" err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Propiedades</a:t>
            </a:r>
            <a:r>
              <a:rPr sz="1500" b="1" dirty="0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500" b="1" dirty="0" err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verificadas</a:t>
            </a:r>
            <a:r>
              <a:rPr sz="1500" b="1" dirty="0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 con SPIN (LTL)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E029E4-F9AC-4E99-9434-3CA8B266B46F}"/>
              </a:ext>
            </a:extLst>
          </p:cNvPr>
          <p:cNvSpPr>
            <a:spLocks noGrp="1"/>
          </p:cNvSpPr>
          <p:nvPr/>
        </p:nvSpPr>
        <p:spPr>
          <a:xfrm>
            <a:off x="6035040" y="2148840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432304"/>
            <a:ext cx="274320" cy="274320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6B1730FD-F2AD-4096-95F8-0CBCC21B8DDD}"/>
              </a:ext>
            </a:extLst>
          </p:cNvPr>
          <p:cNvSpPr>
            <a:spLocks noGrp="1"/>
          </p:cNvSpPr>
          <p:nvPr/>
        </p:nvSpPr>
        <p:spPr>
          <a:xfrm>
            <a:off x="6629400" y="2240280"/>
            <a:ext cx="4800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1C7293"/>
                </a:solidFill>
                <a:latin typeface="Courier New"/>
                <a:ea typeface="Courier New"/>
                <a:cs typeface="Courier New"/>
              </a:rPr>
              <a:t>MUTEX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EC64118-4B85-4677-9221-A7F24719A12C}"/>
              </a:ext>
            </a:extLst>
          </p:cNvPr>
          <p:cNvSpPr>
            <a:spLocks noGrp="1"/>
          </p:cNvSpPr>
          <p:nvPr/>
        </p:nvSpPr>
        <p:spPr>
          <a:xfrm>
            <a:off x="6629400" y="2551176"/>
            <a:ext cx="4800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Exclusión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mutua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-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afety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00A5602-83C4-43CC-80EC-49FBA0A69D9D}"/>
              </a:ext>
            </a:extLst>
          </p:cNvPr>
          <p:cNvSpPr>
            <a:spLocks noGrp="1"/>
          </p:cNvSpPr>
          <p:nvPr/>
        </p:nvSpPr>
        <p:spPr>
          <a:xfrm>
            <a:off x="6035040" y="3136392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419856"/>
            <a:ext cx="274320" cy="27432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5A2844D1-8111-46D2-9BDC-ABDC91BC1CF9}"/>
              </a:ext>
            </a:extLst>
          </p:cNvPr>
          <p:cNvSpPr>
            <a:spLocks noGrp="1"/>
          </p:cNvSpPr>
          <p:nvPr/>
        </p:nvSpPr>
        <p:spPr>
          <a:xfrm>
            <a:off x="6629400" y="3227832"/>
            <a:ext cx="4800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1C7293"/>
                </a:solidFill>
                <a:latin typeface="Courier New"/>
                <a:ea typeface="Courier New"/>
                <a:cs typeface="Courier New"/>
              </a:rPr>
              <a:t>GLOBAL_PROGRESS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92275E1-32CB-475E-883B-5650C6BE0465}"/>
              </a:ext>
            </a:extLst>
          </p:cNvPr>
          <p:cNvSpPr>
            <a:spLocks noGrp="1"/>
          </p:cNvSpPr>
          <p:nvPr/>
        </p:nvSpPr>
        <p:spPr>
          <a:xfrm>
            <a:off x="6629400" y="3538728"/>
            <a:ext cx="4800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El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sistema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progresa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globalmente</a:t>
            </a:r>
            <a:r>
              <a:rPr lang="en-US"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- Liveness</a:t>
            </a:r>
            <a:endParaRPr sz="1150" dirty="0">
              <a:solidFill>
                <a:srgbClr val="5C6F7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3212D01-5CDA-4D73-9732-E1CA6C5B133D}"/>
              </a:ext>
            </a:extLst>
          </p:cNvPr>
          <p:cNvSpPr>
            <a:spLocks noGrp="1"/>
          </p:cNvSpPr>
          <p:nvPr/>
        </p:nvSpPr>
        <p:spPr>
          <a:xfrm>
            <a:off x="6035040" y="4123944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4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407408"/>
            <a:ext cx="274320" cy="274320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E7BA0408-6083-44EC-B514-85559C1E66D8}"/>
              </a:ext>
            </a:extLst>
          </p:cNvPr>
          <p:cNvSpPr>
            <a:spLocks noGrp="1"/>
          </p:cNvSpPr>
          <p:nvPr/>
        </p:nvSpPr>
        <p:spPr>
          <a:xfrm>
            <a:off x="6629400" y="4215384"/>
            <a:ext cx="4800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b="1">
                <a:solidFill>
                  <a:srgbClr val="1C7293"/>
                </a:solidFill>
                <a:latin typeface="Courier New"/>
                <a:ea typeface="Courier New"/>
                <a:cs typeface="Courier New"/>
              </a:rPr>
              <a:t>LOCAL_PROGRESS_ONE/TWO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5FD8007-00D4-417D-B8B1-FE81B46F84F5}"/>
              </a:ext>
            </a:extLst>
          </p:cNvPr>
          <p:cNvSpPr>
            <a:spLocks noGrp="1"/>
          </p:cNvSpPr>
          <p:nvPr/>
        </p:nvSpPr>
        <p:spPr>
          <a:xfrm>
            <a:off x="6629400" y="4526280"/>
            <a:ext cx="48006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Cada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proceso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individualmente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, no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sufre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starvation</a:t>
            </a:r>
            <a:r>
              <a:rPr lang="en-US" sz="1150" dirty="0">
                <a:solidFill>
                  <a:srgbClr val="5C6F79"/>
                </a:solidFill>
                <a:ea typeface="Calibri"/>
                <a:cs typeface="Calibri"/>
              </a:rPr>
              <a:t> - Liveness</a:t>
            </a:r>
            <a:endParaRPr sz="1150" dirty="0">
              <a:solidFill>
                <a:srgbClr val="5C6F7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E4D5AFA-0065-43D8-ACB0-4869A233CA19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4 · Peterson (2 procesos)</a:t>
            </a: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BD57F099-C942-4BB4-A0E5-68FDD0F9B48B}"/>
              </a:ext>
            </a:extLst>
          </p:cNvPr>
          <p:cNvSpPr>
            <a:spLocks noGrp="1"/>
          </p:cNvSpPr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Exclusión mutua — Peterson / Filter Algorithm</a:t>
            </a:r>
          </a:p>
        </p:txBody>
      </p:sp>
    </p:spTree>
    <p:extLst>
      <p:ext uri="{BB962C8B-B14F-4D97-AF65-F5344CB8AC3E}">
        <p14:creationId xmlns:p14="http://schemas.microsoft.com/office/powerpoint/2010/main" val="171398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46E015-760D-45F8-982A-93CD4334CD24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0881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6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Filter Algorithm: Peterson generalizado a N procesos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6A4093-7ADD-415F-BFEB-46A8AD8A8100}"/>
              </a:ext>
            </a:extLst>
          </p:cNvPr>
          <p:cNvSpPr>
            <a:spLocks noGrp="1"/>
          </p:cNvSpPr>
          <p:nvPr/>
        </p:nvSpPr>
        <p:spPr>
          <a:xfrm>
            <a:off x="548640" y="960120"/>
            <a:ext cx="10881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Extiende la idea de Peterson para 2 procesos: un desempate en cada uno de los N-1 niveles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C64FDCC-EFCD-4E9F-82CC-191FC4C85D99}"/>
              </a:ext>
            </a:extLst>
          </p:cNvPr>
          <p:cNvSpPr>
            <a:spLocks noGrp="1"/>
          </p:cNvSpPr>
          <p:nvPr/>
        </p:nvSpPr>
        <p:spPr>
          <a:xfrm>
            <a:off x="868680" y="17830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4884C6-AA80-4D52-99CD-C3D9366C1D8E}"/>
              </a:ext>
            </a:extLst>
          </p:cNvPr>
          <p:cNvSpPr>
            <a:spLocks noGrp="1"/>
          </p:cNvSpPr>
          <p:nvPr/>
        </p:nvSpPr>
        <p:spPr>
          <a:xfrm>
            <a:off x="868680" y="1783080"/>
            <a:ext cx="17830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Nivel 1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9FF9B1-9B15-42A8-8C35-EFB967144E3E}"/>
              </a:ext>
            </a:extLst>
          </p:cNvPr>
          <p:cNvSpPr>
            <a:spLocks noGrp="1"/>
          </p:cNvSpPr>
          <p:nvPr/>
        </p:nvSpPr>
        <p:spPr>
          <a:xfrm>
            <a:off x="868680" y="2843784"/>
            <a:ext cx="17830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>
                <a:solidFill>
                  <a:srgbClr val="5C6F79"/>
                </a:solidFill>
                <a:latin typeface="Courier New"/>
                <a:ea typeface="Courier New"/>
                <a:cs typeface="Courier New"/>
              </a:rPr>
              <a:t>victim[L] = i</a:t>
            </a:r>
          </a:p>
        </p:txBody>
      </p:sp>
      <p:pic>
        <p:nvPicPr>
          <p:cNvPr id="4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36" y="2148840"/>
            <a:ext cx="310896" cy="274320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D25C56E4-195E-46DB-A277-E085D444B30B}"/>
              </a:ext>
            </a:extLst>
          </p:cNvPr>
          <p:cNvSpPr>
            <a:spLocks noGrp="1"/>
          </p:cNvSpPr>
          <p:nvPr/>
        </p:nvSpPr>
        <p:spPr>
          <a:xfrm>
            <a:off x="3035808" y="17830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B92BC6A-403B-46C7-8F1D-351481625637}"/>
              </a:ext>
            </a:extLst>
          </p:cNvPr>
          <p:cNvSpPr>
            <a:spLocks noGrp="1"/>
          </p:cNvSpPr>
          <p:nvPr/>
        </p:nvSpPr>
        <p:spPr>
          <a:xfrm>
            <a:off x="3035808" y="1783080"/>
            <a:ext cx="17830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Nivel 2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7B2BB2A-D912-4F32-9C60-CCAA8039B925}"/>
              </a:ext>
            </a:extLst>
          </p:cNvPr>
          <p:cNvSpPr>
            <a:spLocks noGrp="1"/>
          </p:cNvSpPr>
          <p:nvPr/>
        </p:nvSpPr>
        <p:spPr>
          <a:xfrm>
            <a:off x="3035808" y="2843784"/>
            <a:ext cx="17830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>
                <a:solidFill>
                  <a:srgbClr val="5C6F79"/>
                </a:solidFill>
                <a:latin typeface="Courier New"/>
                <a:ea typeface="Courier New"/>
                <a:cs typeface="Courier New"/>
              </a:rPr>
              <a:t>victim[L] = i</a:t>
            </a:r>
          </a:p>
        </p:txBody>
      </p:sp>
      <p:pic>
        <p:nvPicPr>
          <p:cNvPr id="48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148840"/>
            <a:ext cx="310896" cy="27432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0D8917EC-A285-4591-A186-89A206512C52}"/>
              </a:ext>
            </a:extLst>
          </p:cNvPr>
          <p:cNvSpPr>
            <a:spLocks noGrp="1"/>
          </p:cNvSpPr>
          <p:nvPr/>
        </p:nvSpPr>
        <p:spPr>
          <a:xfrm>
            <a:off x="5202936" y="1783080"/>
            <a:ext cx="1783080" cy="1005840"/>
          </a:xfrm>
          <a:prstGeom prst="roundRect">
            <a:avLst>
              <a:gd name="adj" fmla="val 7273"/>
            </a:avLst>
          </a:prstGeom>
        </p:spPr>
        <p:txBody>
          <a:bodyPr/>
          <a:lstStyle/>
          <a:p>
            <a:endParaRPr lang="es-E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B0F0E2D-D505-44F4-A4A9-583802A3CD57}"/>
              </a:ext>
            </a:extLst>
          </p:cNvPr>
          <p:cNvSpPr>
            <a:spLocks noGrp="1"/>
          </p:cNvSpPr>
          <p:nvPr/>
        </p:nvSpPr>
        <p:spPr>
          <a:xfrm>
            <a:off x="5202936" y="1783080"/>
            <a:ext cx="17830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2600" b="1">
                <a:solidFill>
                  <a:srgbClr val="5C6F79"/>
                </a:solidFill>
                <a:latin typeface="Cambria"/>
                <a:ea typeface="Cambria"/>
                <a:cs typeface="Cambria"/>
              </a:rPr>
              <a:t>· · ·</a:t>
            </a:r>
          </a:p>
        </p:txBody>
      </p:sp>
      <p:pic>
        <p:nvPicPr>
          <p:cNvPr id="51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2148840"/>
            <a:ext cx="310896" cy="274320"/>
          </a:xfrm>
          <a:prstGeom prst="rect">
            <a:avLst/>
          </a:prstGeom>
        </p:spPr>
      </p:pic>
      <p:sp>
        <p:nvSpPr>
          <p:cNvPr id="15" name="Shape 10">
            <a:extLst>
              <a:ext uri="{FF2B5EF4-FFF2-40B4-BE49-F238E27FC236}">
                <a16:creationId xmlns:a16="http://schemas.microsoft.com/office/drawing/2014/main" id="{432F2F2E-59B7-4788-B57B-2D9CEEB354BF}"/>
              </a:ext>
            </a:extLst>
          </p:cNvPr>
          <p:cNvSpPr>
            <a:spLocks noGrp="1"/>
          </p:cNvSpPr>
          <p:nvPr/>
        </p:nvSpPr>
        <p:spPr>
          <a:xfrm>
            <a:off x="7370064" y="17830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288FFC0-4775-481B-B69D-CE3F6EFF7C13}"/>
              </a:ext>
            </a:extLst>
          </p:cNvPr>
          <p:cNvSpPr>
            <a:spLocks noGrp="1"/>
          </p:cNvSpPr>
          <p:nvPr/>
        </p:nvSpPr>
        <p:spPr>
          <a:xfrm>
            <a:off x="7370064" y="1783080"/>
            <a:ext cx="17830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Nivel N-1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ABFD0F6D-4BA1-4160-84E0-8FA6028642A4}"/>
              </a:ext>
            </a:extLst>
          </p:cNvPr>
          <p:cNvSpPr>
            <a:spLocks noGrp="1"/>
          </p:cNvSpPr>
          <p:nvPr/>
        </p:nvSpPr>
        <p:spPr>
          <a:xfrm>
            <a:off x="7370064" y="2843784"/>
            <a:ext cx="17830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>
                <a:solidFill>
                  <a:srgbClr val="5C6F79"/>
                </a:solidFill>
                <a:latin typeface="Courier New"/>
                <a:ea typeface="Courier New"/>
                <a:cs typeface="Courier New"/>
              </a:rPr>
              <a:t>victim[L] = i</a:t>
            </a:r>
          </a:p>
        </p:txBody>
      </p:sp>
      <p:pic>
        <p:nvPicPr>
          <p:cNvPr id="55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148840"/>
            <a:ext cx="310896" cy="274320"/>
          </a:xfrm>
          <a:prstGeom prst="rect">
            <a:avLst/>
          </a:prstGeom>
        </p:spPr>
      </p:pic>
      <p:sp>
        <p:nvSpPr>
          <p:cNvPr id="19" name="Shape 13">
            <a:extLst>
              <a:ext uri="{FF2B5EF4-FFF2-40B4-BE49-F238E27FC236}">
                <a16:creationId xmlns:a16="http://schemas.microsoft.com/office/drawing/2014/main" id="{B8800F23-D59C-4370-A416-38A9569BE872}"/>
              </a:ext>
            </a:extLst>
          </p:cNvPr>
          <p:cNvSpPr>
            <a:spLocks noGrp="1"/>
          </p:cNvSpPr>
          <p:nvPr/>
        </p:nvSpPr>
        <p:spPr>
          <a:xfrm>
            <a:off x="9537192" y="178308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363761AD-E37A-476A-B89F-11CC2472B615}"/>
              </a:ext>
            </a:extLst>
          </p:cNvPr>
          <p:cNvSpPr>
            <a:spLocks noGrp="1"/>
          </p:cNvSpPr>
          <p:nvPr/>
        </p:nvSpPr>
        <p:spPr>
          <a:xfrm>
            <a:off x="9537192" y="1783080"/>
            <a:ext cx="178308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Sección</a:t>
            </a:r>
          </a:p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crítica</a:t>
            </a: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638739EF-6D18-4DBF-9F45-E0EFFE59DAFE}"/>
              </a:ext>
            </a:extLst>
          </p:cNvPr>
          <p:cNvSpPr>
            <a:spLocks noGrp="1"/>
          </p:cNvSpPr>
          <p:nvPr/>
        </p:nvSpPr>
        <p:spPr>
          <a:xfrm>
            <a:off x="640080" y="3419856"/>
            <a:ext cx="100584" cy="100584"/>
          </a:xfrm>
          <a:prstGeom prst="ellipse">
            <a:avLst/>
          </a:prstGeom>
          <a:solidFill>
            <a:srgbClr val="1C7293"/>
          </a:solidFill>
        </p:spPr>
        <p:txBody>
          <a:bodyPr/>
          <a:lstStyle/>
          <a:p>
            <a:endParaRPr lang="es-ES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A404E50-F28C-4D2A-82BA-CEFBD410C75A}"/>
              </a:ext>
            </a:extLst>
          </p:cNvPr>
          <p:cNvSpPr>
            <a:spLocks noGrp="1"/>
          </p:cNvSpPr>
          <p:nvPr/>
        </p:nvSpPr>
        <p:spPr>
          <a:xfrm>
            <a:off x="896112" y="3246120"/>
            <a:ext cx="100584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En cada nivel, el proceso se marca como la última "víctima": victim[L] = i.</a:t>
            </a: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CAC0786-2CB4-4B38-B02F-816117D417CD}"/>
              </a:ext>
            </a:extLst>
          </p:cNvPr>
          <p:cNvSpPr>
            <a:spLocks noGrp="1"/>
          </p:cNvSpPr>
          <p:nvPr/>
        </p:nvSpPr>
        <p:spPr>
          <a:xfrm>
            <a:off x="640080" y="3877056"/>
            <a:ext cx="100584" cy="100584"/>
          </a:xfrm>
          <a:prstGeom prst="ellipse">
            <a:avLst/>
          </a:prstGeom>
          <a:solidFill>
            <a:srgbClr val="1C7293"/>
          </a:solidFill>
        </p:spPr>
        <p:txBody>
          <a:bodyPr/>
          <a:lstStyle/>
          <a:p>
            <a:endParaRPr lang="es-ES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E8C246D6-3D0B-40FB-8784-E14780AF191B}"/>
              </a:ext>
            </a:extLst>
          </p:cNvPr>
          <p:cNvSpPr>
            <a:spLocks noGrp="1"/>
          </p:cNvSpPr>
          <p:nvPr/>
        </p:nvSpPr>
        <p:spPr>
          <a:xfrm>
            <a:off x="896112" y="3703320"/>
            <a:ext cx="100584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Si hay otro proceso en ese nivel o superior y sigo siendo la víctima, espero (busy wait).</a:t>
            </a:r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6EB4EC76-D07F-4AAE-9F03-52940C33D04F}"/>
              </a:ext>
            </a:extLst>
          </p:cNvPr>
          <p:cNvSpPr>
            <a:spLocks noGrp="1"/>
          </p:cNvSpPr>
          <p:nvPr/>
        </p:nvSpPr>
        <p:spPr>
          <a:xfrm>
            <a:off x="640080" y="4334256"/>
            <a:ext cx="100584" cy="100584"/>
          </a:xfrm>
          <a:prstGeom prst="ellipse">
            <a:avLst/>
          </a:prstGeom>
          <a:solidFill>
            <a:srgbClr val="1C7293"/>
          </a:solidFill>
        </p:spPr>
        <p:txBody>
          <a:bodyPr/>
          <a:lstStyle/>
          <a:p>
            <a:endParaRPr lang="es-ES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ED7EF3FF-E726-468B-9B5B-3208A94DFF6D}"/>
              </a:ext>
            </a:extLst>
          </p:cNvPr>
          <p:cNvSpPr>
            <a:spLocks noGrp="1"/>
          </p:cNvSpPr>
          <p:nvPr/>
        </p:nvSpPr>
        <p:spPr>
          <a:xfrm>
            <a:off x="896112" y="4160520"/>
            <a:ext cx="100584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victim[L] </a:t>
            </a:r>
            <a:r>
              <a:rPr sz="1400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cumple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el </a:t>
            </a:r>
            <a:r>
              <a:rPr sz="1400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mismo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rol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que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last </a:t>
            </a:r>
            <a:r>
              <a:rPr sz="1400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Peterson </a:t>
            </a:r>
            <a:r>
              <a:rPr lang="en-US"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-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uno </a:t>
            </a:r>
            <a:r>
              <a:rPr sz="1400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dirty="0" err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nivel</a:t>
            </a:r>
            <a:r>
              <a:rPr sz="1400" dirty="0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, no uno global.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A1D1BAA1-9017-4735-9044-691B48A24E4C}"/>
              </a:ext>
            </a:extLst>
          </p:cNvPr>
          <p:cNvSpPr>
            <a:spLocks noGrp="1"/>
          </p:cNvSpPr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9F1F4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2A828BC3-8558-4BFF-91EC-5244316807EE}"/>
              </a:ext>
            </a:extLst>
          </p:cNvPr>
          <p:cNvSpPr>
            <a:spLocks noGrp="1"/>
          </p:cNvSpPr>
          <p:nvPr/>
        </p:nvSpPr>
        <p:spPr>
          <a:xfrm>
            <a:off x="777240" y="5102352"/>
            <a:ext cx="640080" cy="64008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endParaRPr lang="es-ES"/>
          </a:p>
        </p:txBody>
      </p:sp>
      <p:pic>
        <p:nvPicPr>
          <p:cNvPr id="67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5255971"/>
            <a:ext cx="332842" cy="332842"/>
          </a:xfrm>
          <a:prstGeom prst="rect">
            <a:avLst/>
          </a:prstGeom>
        </p:spPr>
      </p:pic>
      <p:sp>
        <p:nvSpPr>
          <p:cNvPr id="31" name="Text 24">
            <a:extLst>
              <a:ext uri="{FF2B5EF4-FFF2-40B4-BE49-F238E27FC236}">
                <a16:creationId xmlns:a16="http://schemas.microsoft.com/office/drawing/2014/main" id="{E67A2026-3C87-41DF-B468-432623D71838}"/>
              </a:ext>
            </a:extLst>
          </p:cNvPr>
          <p:cNvSpPr>
            <a:spLocks noGrp="1"/>
          </p:cNvSpPr>
          <p:nvPr/>
        </p:nvSpPr>
        <p:spPr>
          <a:xfrm>
            <a:off x="1600200" y="5029200"/>
            <a:ext cx="97840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50" b="1">
                <a:solidFill>
                  <a:srgbClr val="15202B"/>
                </a:solidFill>
                <a:latin typeface="Calibri"/>
                <a:ea typeface="Calibri"/>
                <a:cs typeface="Calibri"/>
              </a:rPr>
              <a:t>Comparación — Algoritmo de Lamport (Bakery):  </a:t>
            </a:r>
            <a:r>
              <a:rPr sz="125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mismo problema, otro enfoque. Cada proceso "saca un número" (como en una panadería) y se respeta el orden — en vez de niveles con víctimas.</a:t>
            </a: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AC63DCCB-668F-4E70-9048-F71E450DE065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5 · Generalización a N procesos</a:t>
            </a: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127094A4-5104-4496-AD1A-3489A9F232AA}"/>
              </a:ext>
            </a:extLst>
          </p:cNvPr>
          <p:cNvSpPr>
            <a:spLocks noGrp="1"/>
          </p:cNvSpPr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Exclusión mutua — Peterson / Filter Algorithm</a:t>
            </a:r>
          </a:p>
        </p:txBody>
      </p:sp>
    </p:spTree>
    <p:extLst>
      <p:ext uri="{BB962C8B-B14F-4D97-AF65-F5344CB8AC3E}">
        <p14:creationId xmlns:p14="http://schemas.microsoft.com/office/powerpoint/2010/main" val="24959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3F9BEB-8D91-4157-8392-CBF84F0DD9F5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0881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28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Filter Algorithm — pseudocódigo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E979D1-9E6C-4296-8D82-4C70D7BD5607}"/>
              </a:ext>
            </a:extLst>
          </p:cNvPr>
          <p:cNvSpPr>
            <a:spLocks noGrp="1"/>
          </p:cNvSpPr>
          <p:nvPr/>
        </p:nvSpPr>
        <p:spPr>
          <a:xfrm>
            <a:off x="548640" y="987552"/>
            <a:ext cx="10881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La generalización de Peterson a N procesos, paso a paso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520197-0AAD-4000-8F24-A85DF9082782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21295C"/>
          </a:solidFill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9BEA24-EA4E-474E-80C1-0E215691D3E2}"/>
              </a:ext>
            </a:extLst>
          </p:cNvPr>
          <p:cNvSpPr>
            <a:spLocks noGrp="1"/>
          </p:cNvSpPr>
          <p:nvPr/>
        </p:nvSpPr>
        <p:spPr>
          <a:xfrm>
            <a:off x="822960" y="1920240"/>
            <a:ext cx="4572000" cy="370332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Variables compartidas: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level[0..N-1] := 0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victim[1..N-1]</a:t>
            </a:r>
          </a:p>
          <a:p>
            <a:pPr marL="0" indent="0">
              <a:lnSpc>
                <a:spcPct val="112000"/>
              </a:lnSpc>
              <a:buNone/>
            </a:pPr>
            <a:endParaRPr sz="1125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Proceso i: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while (true) {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for L = 1 to N-1 {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level[i] = L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victim[L] = i</a:t>
            </a:r>
          </a:p>
          <a:p>
            <a:pPr marL="0" indent="0">
              <a:lnSpc>
                <a:spcPct val="112000"/>
              </a:lnSpc>
              <a:buNone/>
            </a:pPr>
            <a:endParaRPr sz="1125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while ( ∃ k≠i :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      level[k] &gt;= L &amp;&amp;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      victim[L] == i )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busy wait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}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Sección crítica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level[i] = 0</a:t>
            </a:r>
          </a:p>
          <a:p>
            <a:pPr marL="0" indent="0">
              <a:lnSpc>
                <a:spcPct val="112000"/>
              </a:lnSpc>
              <a:buNone/>
              <a:defRPr sz="1125"/>
            </a:pPr>
            <a:r>
              <a:rPr sz="1125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}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EBC11C7-2687-4582-9748-FF86FD17A40B}"/>
              </a:ext>
            </a:extLst>
          </p:cNvPr>
          <p:cNvSpPr>
            <a:spLocks noGrp="1"/>
          </p:cNvSpPr>
          <p:nvPr/>
        </p:nvSpPr>
        <p:spPr>
          <a:xfrm>
            <a:off x="6035040" y="169164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659849D-F3FB-4097-A587-E36905EE7A76}"/>
              </a:ext>
            </a:extLst>
          </p:cNvPr>
          <p:cNvSpPr>
            <a:spLocks noGrp="1"/>
          </p:cNvSpPr>
          <p:nvPr/>
        </p:nvSpPr>
        <p:spPr>
          <a:xfrm>
            <a:off x="6236208" y="1874520"/>
            <a:ext cx="548640" cy="548640"/>
          </a:xfrm>
          <a:prstGeom prst="ellipse">
            <a:avLst/>
          </a:prstGeom>
          <a:solidFill>
            <a:srgbClr val="E9F1F4"/>
          </a:solidFill>
        </p:spPr>
        <p:txBody>
          <a:bodyPr/>
          <a:lstStyle/>
          <a:p>
            <a:endParaRPr lang="es-ES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82" y="2006194"/>
            <a:ext cx="285293" cy="285293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40546CD7-E0C6-4323-9B38-FEA2AE37BE58}"/>
              </a:ext>
            </a:extLst>
          </p:cNvPr>
          <p:cNvSpPr>
            <a:spLocks noGrp="1"/>
          </p:cNvSpPr>
          <p:nvPr/>
        </p:nvSpPr>
        <p:spPr>
          <a:xfrm>
            <a:off x="6995160" y="1810512"/>
            <a:ext cx="4389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solidFill>
                  <a:srgbClr val="1C7293"/>
                </a:solidFill>
                <a:latin typeface="Courier New"/>
                <a:ea typeface="Courier New"/>
                <a:cs typeface="Courier New"/>
              </a:rPr>
              <a:t>N-1 niveles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38A2ECB-9942-4A8A-939C-6E555B4319EE}"/>
              </a:ext>
            </a:extLst>
          </p:cNvPr>
          <p:cNvSpPr>
            <a:spLocks noGrp="1"/>
          </p:cNvSpPr>
          <p:nvPr/>
        </p:nvSpPr>
        <p:spPr>
          <a:xfrm>
            <a:off x="6995160" y="213055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El for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recorre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L = 1 … N-1 </a:t>
            </a:r>
            <a:r>
              <a:rPr lang="en-US"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-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todo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proceso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debe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atravesarlos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A508701-9D2B-4AAC-9613-C50F45D98D0C}"/>
              </a:ext>
            </a:extLst>
          </p:cNvPr>
          <p:cNvSpPr>
            <a:spLocks noGrp="1"/>
          </p:cNvSpPr>
          <p:nvPr/>
        </p:nvSpPr>
        <p:spPr>
          <a:xfrm>
            <a:off x="6035040" y="274320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62426A7-A642-4937-989F-585196BE26B9}"/>
              </a:ext>
            </a:extLst>
          </p:cNvPr>
          <p:cNvSpPr>
            <a:spLocks noGrp="1"/>
          </p:cNvSpPr>
          <p:nvPr/>
        </p:nvSpPr>
        <p:spPr>
          <a:xfrm>
            <a:off x="6236208" y="2926080"/>
            <a:ext cx="548640" cy="548640"/>
          </a:xfrm>
          <a:prstGeom prst="ellipse">
            <a:avLst/>
          </a:prstGeom>
          <a:solidFill>
            <a:srgbClr val="E9F1F4"/>
          </a:solidFill>
        </p:spPr>
        <p:txBody>
          <a:bodyPr/>
          <a:lstStyle/>
          <a:p>
            <a:endParaRPr lang="es-ES"/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882" y="3057754"/>
            <a:ext cx="285293" cy="285293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519F2613-F3F3-4E3F-A182-8394D89A978F}"/>
              </a:ext>
            </a:extLst>
          </p:cNvPr>
          <p:cNvSpPr>
            <a:spLocks noGrp="1"/>
          </p:cNvSpPr>
          <p:nvPr/>
        </p:nvSpPr>
        <p:spPr>
          <a:xfrm>
            <a:off x="6995160" y="2862072"/>
            <a:ext cx="4389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solidFill>
                  <a:srgbClr val="1C7293"/>
                </a:solidFill>
                <a:latin typeface="Courier New"/>
                <a:ea typeface="Courier New"/>
                <a:cs typeface="Courier New"/>
              </a:rPr>
              <a:t>victim[L] = i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56A97B7-859B-4187-B019-53820482B5D3}"/>
              </a:ext>
            </a:extLst>
          </p:cNvPr>
          <p:cNvSpPr>
            <a:spLocks noGrp="1"/>
          </p:cNvSpPr>
          <p:nvPr/>
        </p:nvSpPr>
        <p:spPr>
          <a:xfrm>
            <a:off x="6995160" y="318211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Cada proceso se anuncia como la última víctima de ese nivel.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FD6606B9-B03D-4C84-BFE2-96574ADB34ED}"/>
              </a:ext>
            </a:extLst>
          </p:cNvPr>
          <p:cNvSpPr>
            <a:spLocks noGrp="1"/>
          </p:cNvSpPr>
          <p:nvPr/>
        </p:nvSpPr>
        <p:spPr>
          <a:xfrm>
            <a:off x="6035040" y="379476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5690F262-8E41-4587-94F8-2E3E05D8E130}"/>
              </a:ext>
            </a:extLst>
          </p:cNvPr>
          <p:cNvSpPr>
            <a:spLocks noGrp="1"/>
          </p:cNvSpPr>
          <p:nvPr/>
        </p:nvSpPr>
        <p:spPr>
          <a:xfrm>
            <a:off x="6236208" y="3977640"/>
            <a:ext cx="548640" cy="548640"/>
          </a:xfrm>
          <a:prstGeom prst="ellipse">
            <a:avLst/>
          </a:prstGeom>
          <a:solidFill>
            <a:srgbClr val="E9F1F4"/>
          </a:solidFill>
        </p:spPr>
        <p:txBody>
          <a:bodyPr/>
          <a:lstStyle/>
          <a:p>
            <a:endParaRPr lang="es-ES"/>
          </a:p>
        </p:txBody>
      </p:sp>
      <p:pic>
        <p:nvPicPr>
          <p:cNvPr id="4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882" y="4109314"/>
            <a:ext cx="285293" cy="285293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737671DF-A768-4830-A048-38E3EEED9A02}"/>
              </a:ext>
            </a:extLst>
          </p:cNvPr>
          <p:cNvSpPr>
            <a:spLocks noGrp="1"/>
          </p:cNvSpPr>
          <p:nvPr/>
        </p:nvSpPr>
        <p:spPr>
          <a:xfrm>
            <a:off x="6995160" y="3913632"/>
            <a:ext cx="4389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solidFill>
                  <a:srgbClr val="1C7293"/>
                </a:solidFill>
                <a:latin typeface="Courier New"/>
                <a:ea typeface="Courier New"/>
                <a:cs typeface="Courier New"/>
              </a:rPr>
              <a:t>busy wait condicional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8A0C87F6-FEA9-4140-893F-91860DCBF17A}"/>
              </a:ext>
            </a:extLst>
          </p:cNvPr>
          <p:cNvSpPr>
            <a:spLocks noGrp="1"/>
          </p:cNvSpPr>
          <p:nvPr/>
        </p:nvSpPr>
        <p:spPr>
          <a:xfrm>
            <a:off x="6995160" y="423367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Solo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espera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si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hay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competencia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real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ese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nivel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-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no </a:t>
            </a:r>
            <a:r>
              <a:rPr sz="115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siempre</a:t>
            </a:r>
            <a:r>
              <a:rPr sz="115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610944F9-E58F-4115-B74C-F670E5BE413A}"/>
              </a:ext>
            </a:extLst>
          </p:cNvPr>
          <p:cNvSpPr>
            <a:spLocks noGrp="1"/>
          </p:cNvSpPr>
          <p:nvPr/>
        </p:nvSpPr>
        <p:spPr>
          <a:xfrm>
            <a:off x="6035040" y="484632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54027E32-ED28-44FB-AF81-9015715922AB}"/>
              </a:ext>
            </a:extLst>
          </p:cNvPr>
          <p:cNvSpPr>
            <a:spLocks noGrp="1"/>
          </p:cNvSpPr>
          <p:nvPr/>
        </p:nvSpPr>
        <p:spPr>
          <a:xfrm>
            <a:off x="6236208" y="5029200"/>
            <a:ext cx="548640" cy="548640"/>
          </a:xfrm>
          <a:prstGeom prst="ellipse">
            <a:avLst/>
          </a:prstGeom>
          <a:solidFill>
            <a:srgbClr val="E9F1F4"/>
          </a:solidFill>
        </p:spPr>
        <p:txBody>
          <a:bodyPr/>
          <a:lstStyle/>
          <a:p>
            <a:endParaRPr lang="es-ES"/>
          </a:p>
        </p:txBody>
      </p:sp>
      <p:pic>
        <p:nvPicPr>
          <p:cNvPr id="53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7882" y="5160874"/>
            <a:ext cx="285293" cy="285293"/>
          </a:xfrm>
          <a:prstGeom prst="rect">
            <a:avLst/>
          </a:prstGeom>
        </p:spPr>
      </p:pic>
      <p:sp>
        <p:nvSpPr>
          <p:cNvPr id="24" name="Text 18">
            <a:extLst>
              <a:ext uri="{FF2B5EF4-FFF2-40B4-BE49-F238E27FC236}">
                <a16:creationId xmlns:a16="http://schemas.microsoft.com/office/drawing/2014/main" id="{8583CE4E-0CAB-49C6-B217-194DBEA1F5D8}"/>
              </a:ext>
            </a:extLst>
          </p:cNvPr>
          <p:cNvSpPr>
            <a:spLocks noGrp="1"/>
          </p:cNvSpPr>
          <p:nvPr/>
        </p:nvSpPr>
        <p:spPr>
          <a:xfrm>
            <a:off x="6995160" y="4965192"/>
            <a:ext cx="43891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 b="1">
                <a:solidFill>
                  <a:srgbClr val="1C7293"/>
                </a:solidFill>
                <a:latin typeface="Courier New"/>
                <a:ea typeface="Courier New"/>
                <a:cs typeface="Courier New"/>
              </a:rPr>
              <a:t>Sección crítica</a:t>
            </a: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A880390-61EC-4CFE-9BDE-D93FEDFA000F}"/>
              </a:ext>
            </a:extLst>
          </p:cNvPr>
          <p:cNvSpPr>
            <a:spLocks noGrp="1"/>
          </p:cNvSpPr>
          <p:nvPr/>
        </p:nvSpPr>
        <p:spPr>
          <a:xfrm>
            <a:off x="6995160" y="5285232"/>
            <a:ext cx="4389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15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Se llega solo después de superar los N-1 niveles.</a:t>
            </a: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BF733AB6-7EFB-4EA1-92A1-C261808689D5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6 · Filter Algorithm — pseudocódigo</a:t>
            </a: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FE6F52FB-B499-4557-95E3-C1F61DC7B5F5}"/>
              </a:ext>
            </a:extLst>
          </p:cNvPr>
          <p:cNvSpPr>
            <a:spLocks noGrp="1"/>
          </p:cNvSpPr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Exclusión mutua — Peterson / Filter Algorithm</a:t>
            </a:r>
          </a:p>
        </p:txBody>
      </p:sp>
    </p:spTree>
    <p:extLst>
      <p:ext uri="{BB962C8B-B14F-4D97-AF65-F5344CB8AC3E}">
        <p14:creationId xmlns:p14="http://schemas.microsoft.com/office/powerpoint/2010/main" val="1411184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B7E7FA-515B-471F-9978-A6358D9E1093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0881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Verificación del Filter Algorithm con SPIN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CADAFD-9BEA-47E3-B4F1-3E1044AF35B0}"/>
              </a:ext>
            </a:extLst>
          </p:cNvPr>
          <p:cNvSpPr>
            <a:spLocks noGrp="1"/>
          </p:cNvSpPr>
          <p:nvPr/>
        </p:nvSpPr>
        <p:spPr>
          <a:xfrm>
            <a:off x="548640" y="987552"/>
            <a:ext cx="10881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Tres corridas complementarias sobre N procesos: safety, LTL y ciclos sin progreso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6A1A5D-7798-438D-8DE7-F130F14CFE8E}"/>
              </a:ext>
            </a:extLst>
          </p:cNvPr>
          <p:cNvSpPr>
            <a:spLocks noGrp="1"/>
          </p:cNvSpPr>
          <p:nvPr/>
        </p:nvSpPr>
        <p:spPr>
          <a:xfrm>
            <a:off x="548640" y="1508760"/>
            <a:ext cx="11091672" cy="1124712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A2E6CC-7DF8-4248-BE00-99ADC77C93C8}"/>
              </a:ext>
            </a:extLst>
          </p:cNvPr>
          <p:cNvSpPr>
            <a:spLocks noGrp="1"/>
          </p:cNvSpPr>
          <p:nvPr/>
        </p:nvSpPr>
        <p:spPr>
          <a:xfrm>
            <a:off x="749808" y="1796796"/>
            <a:ext cx="548640" cy="548640"/>
          </a:xfrm>
          <a:prstGeom prst="ellipse">
            <a:avLst/>
          </a:prstGeom>
          <a:solidFill>
            <a:srgbClr val="F6E7E6"/>
          </a:solidFill>
        </p:spPr>
        <p:txBody>
          <a:bodyPr/>
          <a:lstStyle/>
          <a:p>
            <a:endParaRPr lang="es-ES"/>
          </a:p>
        </p:txBody>
      </p:sp>
      <p:pic>
        <p:nvPicPr>
          <p:cNvPr id="4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44" y="1928432"/>
            <a:ext cx="285274" cy="285274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ECBA036F-1034-425C-A34F-F5A24F7038B4}"/>
              </a:ext>
            </a:extLst>
          </p:cNvPr>
          <p:cNvSpPr>
            <a:spLocks noGrp="1"/>
          </p:cNvSpPr>
          <p:nvPr/>
        </p:nvSpPr>
        <p:spPr>
          <a:xfrm>
            <a:off x="1463040" y="1618488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Safety y estados finales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9ABF8A2-4053-4A73-A49A-3D54D0970E4B}"/>
              </a:ext>
            </a:extLst>
          </p:cNvPr>
          <p:cNvSpPr>
            <a:spLocks noGrp="1"/>
          </p:cNvSpPr>
          <p:nvPr/>
        </p:nvSpPr>
        <p:spPr>
          <a:xfrm>
            <a:off x="1463040" y="1975104"/>
            <a:ext cx="3017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ASSERT · END STATES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961D088-6C3E-444A-83E9-0E8CF5A5CE64}"/>
              </a:ext>
            </a:extLst>
          </p:cNvPr>
          <p:cNvSpPr>
            <a:spLocks noGrp="1"/>
          </p:cNvSpPr>
          <p:nvPr/>
        </p:nvSpPr>
        <p:spPr>
          <a:xfrm>
            <a:off x="6030468" y="1595628"/>
            <a:ext cx="4423858" cy="9692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92.753.704 </a:t>
            </a:r>
            <a:r>
              <a:rPr sz="12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estados</a:t>
            </a:r>
            <a:r>
              <a:rPr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almacenados</a:t>
            </a:r>
            <a:r>
              <a:rPr lang="es-ES" sz="1200" dirty="0">
                <a:solidFill>
                  <a:srgbClr val="5C6F79"/>
                </a:solidFill>
                <a:ea typeface="Calibri"/>
                <a:cs typeface="Calibri"/>
              </a:rPr>
              <a:t> · 56.057.503 estados coincidentes</a:t>
            </a:r>
            <a:r>
              <a:rPr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· 148.811.210 </a:t>
            </a:r>
            <a:r>
              <a:rPr sz="12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transiciones</a:t>
            </a:r>
            <a:endParaRPr sz="1200" dirty="0">
              <a:solidFill>
                <a:srgbClr val="5C6F7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76D43FB-19FF-4A69-AE4F-424DCDC7855A}"/>
              </a:ext>
            </a:extLst>
          </p:cNvPr>
          <p:cNvSpPr>
            <a:spLocks noGrp="1"/>
          </p:cNvSpPr>
          <p:nvPr/>
        </p:nvSpPr>
        <p:spPr>
          <a:xfrm>
            <a:off x="548640" y="2743200"/>
            <a:ext cx="11091672" cy="1124712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2EAD043-B359-41F5-8F21-835B6A0DDE99}"/>
              </a:ext>
            </a:extLst>
          </p:cNvPr>
          <p:cNvSpPr>
            <a:spLocks noGrp="1"/>
          </p:cNvSpPr>
          <p:nvPr/>
        </p:nvSpPr>
        <p:spPr>
          <a:xfrm>
            <a:off x="749808" y="3031236"/>
            <a:ext cx="548640" cy="548640"/>
          </a:xfrm>
          <a:prstGeom prst="ellipse">
            <a:avLst/>
          </a:prstGeom>
          <a:solidFill>
            <a:srgbClr val="E4F0EA"/>
          </a:solidFill>
        </p:spPr>
        <p:txBody>
          <a:bodyPr/>
          <a:lstStyle/>
          <a:p>
            <a:endParaRPr lang="es-ES"/>
          </a:p>
        </p:txBody>
      </p:sp>
      <p:pic>
        <p:nvPicPr>
          <p:cNvPr id="5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44" y="3162872"/>
            <a:ext cx="285274" cy="285274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B30B30B5-4844-4289-81B9-86FE0A7AC501}"/>
              </a:ext>
            </a:extLst>
          </p:cNvPr>
          <p:cNvSpPr>
            <a:spLocks noGrp="1"/>
          </p:cNvSpPr>
          <p:nvPr/>
        </p:nvSpPr>
        <p:spPr>
          <a:xfrm>
            <a:off x="1463040" y="2852928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50" b="1" dirty="0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LTL · </a:t>
            </a:r>
            <a:r>
              <a:rPr lang="en-US" sz="1450" b="1" dirty="0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A</a:t>
            </a:r>
            <a:r>
              <a:rPr sz="1450" b="1" dirty="0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cceptance cycles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F02C6F4-7D2A-4D2B-A78B-D090E78C5AE7}"/>
              </a:ext>
            </a:extLst>
          </p:cNvPr>
          <p:cNvSpPr>
            <a:spLocks noGrp="1"/>
          </p:cNvSpPr>
          <p:nvPr/>
        </p:nvSpPr>
        <p:spPr>
          <a:xfrm>
            <a:off x="1463040" y="3209544"/>
            <a:ext cx="3017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5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LTL </a:t>
            </a:r>
            <a:r>
              <a:rPr lang="en-US" sz="95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Flags: </a:t>
            </a:r>
            <a:r>
              <a:rPr sz="95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-a · -f · -N</a:t>
            </a:r>
            <a:r>
              <a:rPr lang="en-US" sz="95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 + LTL</a:t>
            </a:r>
            <a:endParaRPr sz="950" b="1" dirty="0">
              <a:solidFill>
                <a:srgbClr val="1C729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CE083DC-025A-4A63-A003-B3F0FF90BDCF}"/>
              </a:ext>
            </a:extLst>
          </p:cNvPr>
          <p:cNvSpPr>
            <a:spLocks noGrp="1"/>
          </p:cNvSpPr>
          <p:nvPr/>
        </p:nvSpPr>
        <p:spPr>
          <a:xfrm>
            <a:off x="5603504" y="2816352"/>
            <a:ext cx="5529552" cy="9692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CS_EVENTUALLY · </a:t>
            </a:r>
            <a:r>
              <a:rPr lang="en-US"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23.577.554 </a:t>
            </a:r>
            <a:r>
              <a:rPr sz="12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estados</a:t>
            </a:r>
            <a:r>
              <a:rPr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almacenados</a:t>
            </a:r>
            <a:r>
              <a:rPr lang="en-US"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ES" sz="1200" dirty="0">
                <a:solidFill>
                  <a:srgbClr val="5C6F79"/>
                </a:solidFill>
                <a:ea typeface="Calibri"/>
                <a:cs typeface="Calibri"/>
              </a:rPr>
              <a:t>· 71.528.270 estados coincidentes</a:t>
            </a:r>
            <a:r>
              <a:rPr lang="en-US"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ES" sz="1200" dirty="0">
                <a:solidFill>
                  <a:srgbClr val="5C6F79"/>
                </a:solidFill>
                <a:ea typeface="Calibri"/>
                <a:cs typeface="Calibri"/>
              </a:rPr>
              <a:t>· </a:t>
            </a:r>
            <a:r>
              <a:rPr lang="es-ES"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142.908.430 transiciones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2EE319F-5771-4443-AD93-B6F01BB44D65}"/>
              </a:ext>
            </a:extLst>
          </p:cNvPr>
          <p:cNvSpPr>
            <a:spLocks noGrp="1"/>
          </p:cNvSpPr>
          <p:nvPr/>
        </p:nvSpPr>
        <p:spPr>
          <a:xfrm>
            <a:off x="548640" y="3977640"/>
            <a:ext cx="11091672" cy="1124712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79615BB7-9831-4D7B-A97C-BF5B99B8E136}"/>
              </a:ext>
            </a:extLst>
          </p:cNvPr>
          <p:cNvSpPr>
            <a:spLocks noGrp="1"/>
          </p:cNvSpPr>
          <p:nvPr/>
        </p:nvSpPr>
        <p:spPr>
          <a:xfrm>
            <a:off x="749808" y="4265676"/>
            <a:ext cx="548640" cy="548640"/>
          </a:xfrm>
          <a:prstGeom prst="ellipse">
            <a:avLst/>
          </a:prstGeom>
          <a:solidFill>
            <a:srgbClr val="E4F0EA"/>
          </a:solidFill>
        </p:spPr>
        <p:txBody>
          <a:bodyPr/>
          <a:lstStyle/>
          <a:p>
            <a:endParaRPr lang="es-ES"/>
          </a:p>
        </p:txBody>
      </p:sp>
      <p:pic>
        <p:nvPicPr>
          <p:cNvPr id="56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44" y="4397312"/>
            <a:ext cx="285274" cy="285274"/>
          </a:xfrm>
          <a:prstGeom prst="rect">
            <a:avLst/>
          </a:prstGeom>
        </p:spPr>
      </p:pic>
      <p:sp>
        <p:nvSpPr>
          <p:cNvPr id="19" name="Text 14">
            <a:extLst>
              <a:ext uri="{FF2B5EF4-FFF2-40B4-BE49-F238E27FC236}">
                <a16:creationId xmlns:a16="http://schemas.microsoft.com/office/drawing/2014/main" id="{97E3CF79-5054-42B5-8C53-FB46FA5542FF}"/>
              </a:ext>
            </a:extLst>
          </p:cNvPr>
          <p:cNvSpPr>
            <a:spLocks noGrp="1"/>
          </p:cNvSpPr>
          <p:nvPr/>
        </p:nvSpPr>
        <p:spPr>
          <a:xfrm>
            <a:off x="1463040" y="4087368"/>
            <a:ext cx="30175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450" b="1">
                <a:solidFill>
                  <a:srgbClr val="15202B"/>
                </a:solidFill>
                <a:latin typeface="Cambria"/>
                <a:ea typeface="Cambria"/>
                <a:cs typeface="Cambria"/>
              </a:rPr>
              <a:t>Non-progress cycles</a:t>
            </a: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9ED6D8A-6C7C-47D4-BCCC-9B4B381413A6}"/>
              </a:ext>
            </a:extLst>
          </p:cNvPr>
          <p:cNvSpPr>
            <a:spLocks noGrp="1"/>
          </p:cNvSpPr>
          <p:nvPr/>
        </p:nvSpPr>
        <p:spPr>
          <a:xfrm>
            <a:off x="1463040" y="4443984"/>
            <a:ext cx="3017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95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PROGRESS LABELS</a:t>
            </a:r>
            <a:r>
              <a:rPr lang="en-US" sz="95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:</a:t>
            </a:r>
            <a:r>
              <a:rPr sz="950" b="1" dirty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 -l · -f</a:t>
            </a: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1B737EE5-C892-4807-9D33-888C9B8C9409}"/>
              </a:ext>
            </a:extLst>
          </p:cNvPr>
          <p:cNvSpPr>
            <a:spLocks noGrp="1"/>
          </p:cNvSpPr>
          <p:nvPr/>
        </p:nvSpPr>
        <p:spPr>
          <a:xfrm>
            <a:off x="6113234" y="4032504"/>
            <a:ext cx="4463639" cy="96926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35.652.185</a:t>
            </a:r>
            <a:r>
              <a:rPr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estados</a:t>
            </a:r>
            <a:r>
              <a:rPr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almacenados</a:t>
            </a:r>
            <a:r>
              <a:rPr lang="es-ES" sz="1200" dirty="0">
                <a:solidFill>
                  <a:srgbClr val="5C6F79"/>
                </a:solidFill>
                <a:ea typeface="Calibri"/>
                <a:cs typeface="Calibri"/>
              </a:rPr>
              <a:t> · 132.579.550 estados coincidentes</a:t>
            </a:r>
            <a:r>
              <a:rPr sz="1200" dirty="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 · 250.110.140 </a:t>
            </a:r>
            <a:r>
              <a:rPr sz="1200" dirty="0" err="1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transiciones</a:t>
            </a:r>
            <a:endParaRPr sz="1200" dirty="0">
              <a:solidFill>
                <a:srgbClr val="5C6F7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A4ACAAC-504F-47AD-8DEE-E927FC8C6892}"/>
              </a:ext>
            </a:extLst>
          </p:cNvPr>
          <p:cNvSpPr>
            <a:spLocks noGrp="1"/>
          </p:cNvSpPr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6087"/>
            </a:avLst>
          </a:prstGeom>
          <a:solidFill>
            <a:srgbClr val="E6F0F4"/>
          </a:solidFill>
          <a:ln w="9525">
            <a:solidFill>
              <a:srgbClr val="C7DCE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22BCAB50-EA73-4185-B3D3-1C60E32B528D}"/>
              </a:ext>
            </a:extLst>
          </p:cNvPr>
          <p:cNvSpPr>
            <a:spLocks noGrp="1"/>
          </p:cNvSpPr>
          <p:nvPr/>
        </p:nvSpPr>
        <p:spPr>
          <a:xfrm>
            <a:off x="731520" y="5358384"/>
            <a:ext cx="1072591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13" b="0">
                <a:solidFill>
                  <a:srgbClr val="405766"/>
                </a:solidFill>
              </a:defRPr>
            </a:pP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En safety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usé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rounds para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acotar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el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espacio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de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estados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. Para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verificar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liveness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los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retiré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,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porque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los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ciclos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requieren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ejecuciones</a:t>
            </a:r>
            <a:r>
              <a:rPr lang="en-US"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infinitas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.</a:t>
            </a:r>
          </a:p>
          <a:p>
            <a:pPr marL="0" indent="0" algn="l">
              <a:buNone/>
              <a:defRPr sz="1013" b="0">
                <a:solidFill>
                  <a:srgbClr val="405766"/>
                </a:solidFill>
              </a:defRPr>
            </a:pP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* Non-progress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alcanzó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“max search depth too small”: la corrida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aporta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evidencia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,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pero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 no es </a:t>
            </a:r>
            <a:r>
              <a:rPr sz="1013" b="0" dirty="0" err="1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concluyente</a:t>
            </a:r>
            <a:r>
              <a:rPr sz="1013" b="0" dirty="0">
                <a:solidFill>
                  <a:srgbClr val="405766"/>
                </a:solidFill>
                <a:latin typeface="Cambria"/>
                <a:ea typeface="Cambria"/>
                <a:cs typeface="Cambria"/>
              </a:rPr>
              <a:t>.</a:t>
            </a: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0A65430-C81A-4BDA-8A5B-A226BAC655DD}"/>
              </a:ext>
            </a:extLst>
          </p:cNvPr>
          <p:cNvSpPr>
            <a:spLocks noGrp="1"/>
          </p:cNvSpPr>
          <p:nvPr/>
        </p:nvSpPr>
        <p:spPr>
          <a:xfrm>
            <a:off x="630936" y="5431536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endParaRPr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D10FEDD4-3085-4690-98EF-53763D39BB2D}"/>
              </a:ext>
            </a:extLst>
          </p:cNvPr>
          <p:cNvSpPr>
            <a:spLocks noGrp="1"/>
          </p:cNvSpPr>
          <p:nvPr/>
        </p:nvSpPr>
        <p:spPr>
          <a:xfrm>
            <a:off x="3374136" y="4809744"/>
            <a:ext cx="2606040" cy="1051560"/>
          </a:xfrm>
          <a:prstGeom prst="roundRect">
            <a:avLst>
              <a:gd name="adj" fmla="val 608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589D6929-2371-4434-860E-EA3E1C3854CC}"/>
              </a:ext>
            </a:extLst>
          </p:cNvPr>
          <p:cNvSpPr>
            <a:spLocks noGrp="1"/>
          </p:cNvSpPr>
          <p:nvPr/>
        </p:nvSpPr>
        <p:spPr>
          <a:xfrm>
            <a:off x="3374136" y="4901184"/>
            <a:ext cx="2606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DFF6D4B5-F02C-4141-B5C9-DE89434B1E2C}"/>
              </a:ext>
            </a:extLst>
          </p:cNvPr>
          <p:cNvSpPr>
            <a:spLocks noGrp="1"/>
          </p:cNvSpPr>
          <p:nvPr/>
        </p:nvSpPr>
        <p:spPr>
          <a:xfrm>
            <a:off x="3465576" y="5431536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endParaRPr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769BCB93-3471-417E-97EB-A051D4F689D7}"/>
              </a:ext>
            </a:extLst>
          </p:cNvPr>
          <p:cNvSpPr>
            <a:spLocks noGrp="1"/>
          </p:cNvSpPr>
          <p:nvPr/>
        </p:nvSpPr>
        <p:spPr>
          <a:xfrm>
            <a:off x="6208776" y="4809744"/>
            <a:ext cx="2606040" cy="1051560"/>
          </a:xfrm>
          <a:prstGeom prst="roundRect">
            <a:avLst>
              <a:gd name="adj" fmla="val 608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038BB714-B261-4B5B-AE5F-D42CC2A0BBF1}"/>
              </a:ext>
            </a:extLst>
          </p:cNvPr>
          <p:cNvSpPr>
            <a:spLocks noGrp="1"/>
          </p:cNvSpPr>
          <p:nvPr/>
        </p:nvSpPr>
        <p:spPr>
          <a:xfrm>
            <a:off x="6208776" y="4901184"/>
            <a:ext cx="2606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FAA00A93-7843-4D02-8021-568C35830C3B}"/>
              </a:ext>
            </a:extLst>
          </p:cNvPr>
          <p:cNvSpPr>
            <a:spLocks noGrp="1"/>
          </p:cNvSpPr>
          <p:nvPr/>
        </p:nvSpPr>
        <p:spPr>
          <a:xfrm>
            <a:off x="6300216" y="5431536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endParaRPr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2A50F520-C76D-4827-84C0-0CE96FD73082}"/>
              </a:ext>
            </a:extLst>
          </p:cNvPr>
          <p:cNvSpPr>
            <a:spLocks noGrp="1"/>
          </p:cNvSpPr>
          <p:nvPr/>
        </p:nvSpPr>
        <p:spPr>
          <a:xfrm>
            <a:off x="9043416" y="4809744"/>
            <a:ext cx="2606040" cy="1051560"/>
          </a:xfrm>
          <a:prstGeom prst="roundRect">
            <a:avLst>
              <a:gd name="adj" fmla="val 6087"/>
            </a:avLst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ECC14367-BFB5-4C77-A380-1431638257CA}"/>
              </a:ext>
            </a:extLst>
          </p:cNvPr>
          <p:cNvSpPr>
            <a:spLocks noGrp="1"/>
          </p:cNvSpPr>
          <p:nvPr/>
        </p:nvSpPr>
        <p:spPr>
          <a:xfrm>
            <a:off x="9043416" y="4901184"/>
            <a:ext cx="26060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A6BD2579-AA0E-44DF-92AC-042400B0B039}"/>
              </a:ext>
            </a:extLst>
          </p:cNvPr>
          <p:cNvSpPr>
            <a:spLocks noGrp="1"/>
          </p:cNvSpPr>
          <p:nvPr/>
        </p:nvSpPr>
        <p:spPr>
          <a:xfrm>
            <a:off x="9134856" y="5431536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buNone/>
            </a:pPr>
            <a:endParaRPr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DFB0D10D-7D6A-433B-BE6F-5C6B22D80C82}"/>
              </a:ext>
            </a:extLst>
          </p:cNvPr>
          <p:cNvSpPr>
            <a:spLocks noGrp="1"/>
          </p:cNvSpPr>
          <p:nvPr/>
        </p:nvSpPr>
        <p:spPr>
          <a:xfrm>
            <a:off x="539496" y="5907024"/>
            <a:ext cx="111099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BCD04E55-1997-4129-AB5E-FF73C62FD3B6}"/>
              </a:ext>
            </a:extLst>
          </p:cNvPr>
          <p:cNvSpPr>
            <a:spLocks noGrp="1"/>
          </p:cNvSpPr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7 · Resultados de verificación</a:t>
            </a:r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9A2ADFCE-ACA8-4010-AF54-A5249322B11B}"/>
              </a:ext>
            </a:extLst>
          </p:cNvPr>
          <p:cNvSpPr>
            <a:spLocks noGrp="1"/>
          </p:cNvSpPr>
          <p:nvPr/>
        </p:nvSpPr>
        <p:spPr>
          <a:xfrm>
            <a:off x="7772400" y="6510528"/>
            <a:ext cx="395935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1000">
                <a:solidFill>
                  <a:srgbClr val="5C6F79"/>
                </a:solidFill>
                <a:latin typeface="Calibri"/>
                <a:ea typeface="Calibri"/>
                <a:cs typeface="Calibri"/>
              </a:rPr>
              <a:t>Exclusión mutua — Peterson / Filter Algorithm</a:t>
            </a:r>
          </a:p>
        </p:txBody>
      </p:sp>
    </p:spTree>
    <p:extLst>
      <p:ext uri="{BB962C8B-B14F-4D97-AF65-F5344CB8AC3E}">
        <p14:creationId xmlns:p14="http://schemas.microsoft.com/office/powerpoint/2010/main" val="993543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296701-6F02-4F48-8282-667C679B88B2}"/>
              </a:ext>
            </a:extLst>
          </p:cNvPr>
          <p:cNvSpPr>
            <a:spLocks noGrp="1"/>
          </p:cNvSpPr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43854C2-2BF7-49B8-8417-821EE2D9E037}"/>
              </a:ext>
            </a:extLst>
          </p:cNvPr>
          <p:cNvSpPr>
            <a:spLocks noGrp="1"/>
          </p:cNvSpPr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0EC02B-8B4E-43FA-A57A-F2A2EF0D5E5F}"/>
              </a:ext>
            </a:extLst>
          </p:cNvPr>
          <p:cNvSpPr>
            <a:spLocks noGrp="1"/>
          </p:cNvSpPr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65A82"/>
          </a:solidFill>
        </p:spPr>
        <p:txBody>
          <a:bodyPr/>
          <a:lstStyle/>
          <a:p>
            <a:endParaRPr lang="es-ES"/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974750"/>
            <a:ext cx="427939" cy="427939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141665C5-9202-4ABA-9251-7F8BA3ADAA98}"/>
              </a:ext>
            </a:extLst>
          </p:cNvPr>
          <p:cNvSpPr>
            <a:spLocks noGrp="1"/>
          </p:cNvSpPr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Una condición elegante,</a:t>
            </a:r>
          </a:p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una idea que escala a N procesos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7C6C8BF-F13C-4DEC-923E-C79798DF3E8F}"/>
              </a:ext>
            </a:extLst>
          </p:cNvPr>
          <p:cNvSpPr>
            <a:spLocks noGrp="1"/>
          </p:cNvSpPr>
          <p:nvPr/>
        </p:nvSpPr>
        <p:spPr>
          <a:xfrm>
            <a:off x="822960" y="3429000"/>
            <a:ext cx="99669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sz="1500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Peterson logra con una sola condición de espera lo que cuatro intentos previos no lograron </a:t>
            </a:r>
            <a:r>
              <a:rPr sz="1500" b="1">
                <a:solidFill>
                  <a:srgbClr val="4FB8A6"/>
                </a:solidFill>
                <a:latin typeface="Calibri"/>
                <a:ea typeface="Calibri"/>
                <a:cs typeface="Calibri"/>
              </a:rPr>
              <a:t>simultáneamente</a:t>
            </a:r>
            <a:r>
              <a:rPr sz="1500">
                <a:solidFill>
                  <a:srgbClr val="C9D6DD"/>
                </a:solidFill>
                <a:latin typeface="Calibri"/>
                <a:ea typeface="Calibri"/>
                <a:cs typeface="Calibri"/>
              </a:rPr>
              <a:t>: exclusión mutua, ausencia de deadlock y ausencia de starvation.</a:t>
            </a:r>
          </a:p>
        </p:txBody>
      </p:sp>
      <p:pic>
        <p:nvPicPr>
          <p:cNvPr id="2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79392"/>
            <a:ext cx="292608" cy="292608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1B91DBC2-2CA7-4D20-AD2A-26780C86FD3F}"/>
              </a:ext>
            </a:extLst>
          </p:cNvPr>
          <p:cNvSpPr>
            <a:spLocks noGrp="1"/>
          </p:cNvSpPr>
          <p:nvPr/>
        </p:nvSpPr>
        <p:spPr>
          <a:xfrm>
            <a:off x="1261872" y="4178808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E9F1F4"/>
                </a:solidFill>
                <a:latin typeface="Calibri"/>
                <a:ea typeface="Calibri"/>
                <a:cs typeface="Calibri"/>
              </a:rPr>
              <a:t>El Filter Algorithm extiende esa misma idea a N procesos: turn se convierte en victim[L], un desempate por nivel en vez de uno global.</a:t>
            </a:r>
          </a:p>
        </p:txBody>
      </p:sp>
      <p:pic>
        <p:nvPicPr>
          <p:cNvPr id="2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37760"/>
            <a:ext cx="292608" cy="292608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943C8935-3C78-4540-A3F6-5FDB41E3FCAE}"/>
              </a:ext>
            </a:extLst>
          </p:cNvPr>
          <p:cNvSpPr>
            <a:spLocks noGrp="1"/>
          </p:cNvSpPr>
          <p:nvPr/>
        </p:nvSpPr>
        <p:spPr>
          <a:xfrm>
            <a:off x="1261872" y="4837176"/>
            <a:ext cx="950976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50">
                <a:solidFill>
                  <a:srgbClr val="E9F1F4"/>
                </a:solidFill>
                <a:latin typeface="Calibri"/>
                <a:ea typeface="Calibri"/>
                <a:cs typeface="Calibri"/>
              </a:rPr>
              <a:t>Cada etapa de esta evolución fue verificada formalmente con SPIN — las garantías no quedaron solo argumentadas, sino comprobadas.</a:t>
            </a:r>
          </a:p>
        </p:txBody>
      </p:sp>
    </p:spTree>
    <p:extLst>
      <p:ext uri="{BB962C8B-B14F-4D97-AF65-F5344CB8AC3E}">
        <p14:creationId xmlns:p14="http://schemas.microsoft.com/office/powerpoint/2010/main" val="403579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965</Words>
  <Application>Microsoft Office PowerPoint</Application>
  <DocSecurity>0</DocSecurity>
  <PresentationFormat>Panorámica</PresentationFormat>
  <Paragraphs>129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Tomas Fugassa Perez</cp:lastModifiedBy>
  <cp:revision>2</cp:revision>
  <dcterms:created xsi:type="dcterms:W3CDTF">2026-08-02T22:04:32Z</dcterms:created>
  <dcterms:modified xsi:type="dcterms:W3CDTF">2026-08-02T22:51:39Z</dcterms:modified>
</cp:coreProperties>
</file>